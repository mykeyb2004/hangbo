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65" r:id="rId1"/>
  </p:sldMasterIdLst>
  <p:notesMasterIdLst>
    <p:notesMasterId r:id="rId3"/>
  </p:notesMasterIdLst>
  <p:handoutMasterIdLst>
    <p:handoutMasterId r:id="rId4"/>
  </p:handoutMasterIdLst>
  <p:sldIdLst>
    <p:sldId id="256" r:id="rId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</p:sldIdLst>
  <p:sldSz cx="12192000" cy="6858000"/>
  <p:notesSz cx="6858000" cy="9144000"/>
  <p:embeddedFontLst>
    <p:embeddedFont>
      <p:font typeface="等线" panose="02010600030101010101" pitchFamily="2" charset="-122"/>
      <p:regular r:id="rId5"/>
      <p:bold r:id="rId6"/>
    </p:embeddedFont>
  </p:embeddedFontLst>
  <p:custDataLst>
    <p:tags r:id="rId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F26B43"/>
          </p15:clr>
        </p15:guide>
        <p15:guide id="3" orient="horz" pos="222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483810881" name="WPS_1679281038" initials="W" lastIdx="1" clrIdx="2"/>
  <p:cmAuthor id="1" name="DELL" initials="D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B2648"/>
    <a:srgbClr val="BB2647"/>
    <a:srgbClr val="F3E8E9"/>
    <a:srgbClr val="ECA0B1"/>
    <a:srgbClr val="F7F9FD"/>
    <a:srgbClr val="F9E9EC"/>
    <a:srgbClr val="DE9BA4"/>
    <a:srgbClr val="A40000"/>
    <a:srgbClr val="BD374A"/>
    <a:srgbClr val="EB40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20" autoAdjust="0"/>
    <p:restoredTop sz="92000" autoAdjust="0"/>
  </p:normalViewPr>
  <p:slideViewPr>
    <p:cSldViewPr snapToGrid="0" showGuides="1">
      <p:cViewPr varScale="1">
        <p:scale>
          <a:sx n="176" d="100"/>
          <a:sy n="176" d="100"/>
        </p:scale>
        <p:origin x="864" y="200"/>
      </p:cViewPr>
      <p:guideLst>
        <p:guide pos="3839"/>
        <p:guide orient="horz" pos="222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>
      <p:cViewPr varScale="1">
        <p:scale>
          <a:sx n="80" d="100"/>
          <a:sy n="80" d="100"/>
        </p:scale>
        <p:origin x="3204" y="96"/>
      </p:cViewPr>
      <p:guideLst/>
    </p:cSldViewPr>
  </p:notes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handoutMaster" Target="handoutMasters/handoutMaster1.xml"/><Relationship Id="rId5" Type="http://schemas.openxmlformats.org/officeDocument/2006/relationships/font" Target="fonts/font1.fntdata"/><Relationship Id="rId6" Type="http://schemas.openxmlformats.org/officeDocument/2006/relationships/font" Target="fonts/font2.fntdata"/><Relationship Id="rId7" Type="http://schemas.openxmlformats.org/officeDocument/2006/relationships/tags" Target="tags/tag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满意度维持高位，展览活动主（承）办客户总体满意度为9.14，各维度表现较为均衡。其中，硬件设施得分最高，为9.71，园区停车方便、交通便利、标识标牌清晰、设施设备齐全、展厅使用情况等均达到10分，场馆基础条件优势较为突出；会展服务得分9.33，销售经理服务态度、业务能力以及现场对接协调沟通、服务效率均获10分，前端销售与现场协同表现突出。相对来看，短板主要集中在智慧场馆，满意度为8.5，低于其他二级指标，寻车系统和云上看馆均为8分，室内导航系统为9分且低于其重要性，数字化服务体验仍需重点关注。配套服务保持稳定，安保、保洁均为9分。个别具体服务项中，设备租赁满意度为9分，低于其重要性，亦建议纳入后续优化重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展商整体满意度为9.65，维持较高水平，整体体验较为稳健，但与满分重要性相比仍存在一定提升空间。分项看，会场服务表现最优，满意度达9.99，工作人员仪容仪表、服务态度、业务技能均为10分，现场布置与搭建为9.96，体现出一线服务与现场执行获得高度认可。配套服务同样处于高位，满意度为9.83，其中安保服务、保洁服务均为10分，餐饮服务为9.5，整体支撑较好。相较之下，硬件设施为9.13，是当前相对偏弱的板块，短板主要集中在园区停车方便（8分）和标识标牌清晰（8.79分），交通便利、设施设备齐全、展厅使用情况虽保持较好水平，但与其他高分项相比仍有差距。后续建议优先关注参展动线与到场便利相关体验点，推动整体满意度进一步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专业观众整体满意度为9.77，维持高位，整体体验较好。分项看，会展服务表现最为稳健，满意度达到10分，工作人员仪容仪表、服务态度和业务技能均获满分，现场服务能力认可度较高。配套服务同样处于高水平，满意度为9.95，其中安保服务、保洁服务均为10分，餐饮服务为9.85，整体保障较为到位。相较之下，短板主要集中在硬件设施，满意度为9.37，低于整体水平，也是与重要性差异相对集中的板块。三级指标中，园区停车方便为8分，是当前最需关注的单项；标识标牌清晰为9.27，展会路线安排为9.37，也存在一定优化空间。交通便利、设施设备齐全、展厅使用情况及参展环境均保持在9.67分及以上，整体基础条件较好，但后续仍需优先围绕停车组织、动线安排和标识清晰度持续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满意度维持高位，会议活动主（承）办客户总体满意度为9.47，各二级板块均处于9分以上，其中会展服务和硬件设施表现最优，分别为9.67和9.66，配套服务为9.56，智慧场馆为9.00。优势主要集中在现场服务执行与基础设施支撑，现场对接协调沟通、工作人员服务态度与仪容仪表、设施设备齐全、AV效果等指标均达到10分，现场对接服务效率、保洁服务、交通便利、会议厅室匹配性等也保持较高水平。相对偏弱的环节主要集中在服务闭环和部分配套体验，会后回访9.14、餐饮服务9.14、安保服务9.25、标识标牌清晰9.29、在线服务渠道便捷9.43、交通流线9.43。结合满意度与重要性差异看，销售经理业务能力、会后回访和整体协调配合等仍有提升空间，后续宜优先关注高关注度场景下的服务稳定性与体验完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会客户整体满意度维持高位，总体得分9.81，整体服务表现较为稳健。分项看，会展服务表现最优，二级指标达到10分，工作人员仪容仪表、业务技能、服务态度、接待引导等核心触点均获满分，茶歇服务品质也保持在9.99的高水平，体现出现场服务端稳定性较强。配套服务整体较好，安保服务、保洁服务均为10分，客房服务为9.87分，餐饮服务为9.55分，仍有进一步提升空间。相较之下，硬件设施为当前相对薄弱环节，二级指标得分9.58，其中休息空间、AV效果、参会环境保持较高水准，但标识标牌清晰度为9.24分、园区停车方便为8.68分，与重要性相比存在更明显差距，交通便利、厅室匹配性及设施设备齐全虽处较好水平，后续仍需重点关注硬件导视与停车体验等关键触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商务简餐整体满意度维持高位，达到9.59分，客户对核心用餐体验评价较好。其中，餐饮服务表现突出，二级指标为9.98分，菜品温度、分量、供应速度、菜品卫生、工作人员服务品质及就餐区域卫生均获10分，服务稳定性较强；就餐区域温度为9.84分，也保持较好水平。相较之下，短板主要集中在硬件设施，二级指标为9.20分，低于整体表现，其中园区停车方便仅8.40分，是当前最明显的承压点；标识标牌清晰为9.36分，仍有优化空间；交通便利、容易到达为9.84分，处于较好水平。结合各项评分看，商务简餐的优势集中在餐饮出品与现场服务，后续需重点关注停车便利性及导视体验等硬件触点，以带动整体满意度进一步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助餐客户满意度维持高位，整体评价达到满分，服务体验表现稳定，当前未见明显短板。分项来看，餐饮服务相关指标均处于满分水平，菜肴品种、供应速度、口味口感、地方特色以及工作人员服务品质均获得充分认可，就餐区域温度与卫生表现同样稳定，基础服务与现场体验保持一致。硬件设施方面，交通便利性和标识标牌清晰度评价同样较高，客户在到达与动线识别环节感受顺畅。结合满意度与重要性对照，各项指标均实现同分匹配，尚未出现高重要度下的相对弱项。整体来看，自助餐业务当前处于较优状态，后续重点在于保持现有服务标准和交付稳定性，持续巩固客户高满意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宴会客户满意度整体维持高位，总体评分为9.85分，整体服务表现较为稳健，与重要性相比仅存在小幅差距。分项看，餐饮服务表现更优，满意度达到9.95分，其中菜品温度、菜肴品种、菜品供应速度、接待指引、就餐区域卫生及工作人员服务品质均获10分，属于当前宴会体验中的突出优势；菜品地方特色、就餐区域温度及菜品口味品相虽略低于满分，但仍处于较高水平。相较之下，硬件设施满意度为9.75分，是当前相对偏弱的板块，短板主要集中在标识标牌清晰度9.52分和园区停车方便性9.6分，与重要性之间存在相对更明显差距；交通便利、容易到达为9.88分，宴会视听设备获10分，保持良好支撑。整体来看，宴会业务当前优势集中在餐饮交付与现场服务，后续需优先关注来场动线识别和停车体验等硬件相关环节，推动整体体验进一步均衡提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酒店住宿团队整体满意度维持高位，总体得分9.94，客户体验基础较稳。其中，入住服务表现最优，二级指标达到10分，入住登记、客房服务、离店退房以及人员仪容、态度、业务技能均处于满分水平，服务流程与人员表现较为突出。餐饮服务保持较好水准，得分9.97，送餐服务、零点服务均获满分，自助早餐略有差距但仍处高位。硬件设施相对是当前短板集中区域，二级指标为9.86；客房整体环境、设施设备、住宿用品质量和私密性评价较好，商务适配性也获满分，但园区停车方便性得分9.33，为各项中最低，与客户期望存在较明显差距，标识标牌清晰度9.74、交通便利性9.87也相对偏弱，后续可优先围绕到达与通行体验持续关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酒店参会客户满意度维持高位，总体得分为9.82，整体服务表现较为稳健。分维度看，会展服务达到满分10分，工作人员仪容仪表、业务技能、服务态度及茶歇服务均表现突出，是当前体验优势最集中的部分；配套服务得分9.83，其中安保、保洁表现较好，餐饮服务和客房服务虽保持较高水平，但与满分仍有一定差距。相较之下，硬件设施得分9.63，是当前相对偏弱环节，短板主要集中在园区停车方便、标识标牌清晰、会议厅室匹配性与方便性等触点；交通便利、设施设备、参会环境整体较好，休息空间与AV效果表现突出。结合满意度与重要性对比，后续应优先聚焦硬件设施中的关键接触点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酒店餐饮客户满意度维持高位，整体得分9.85，客户评价总体稳定且表现较强。其中，餐饮服务为当前优势板块，满意度达到9.99，菜品温度、菜肴品种、供应速度、口味品相、接待指引、就餐区域温度与卫生、工作人员服务品质、菜品分量及菜品卫生等多项指标均达到10分，显示核心用餐体验较为扎实；菜品地方特色为9.95，也保持较好水平。相对来看，短板主要集中在硬件设施环节，满意度为9.72，低于整体水平，其中标识标牌清晰度9.68、交通便利及到达便捷性9.73，是当前相对承压的具体点位。餐饮服务内部，菜品口味口相为9.78，也略低于其他多数满分指标。结合各项指标均处于高关注范围，后续宜在保持餐饮服务优势的同时，优先补强导视与到达体验，并持续关注个别菜品感知项的稳定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tags" Target="../tags/tag6.xml"/><Relationship Id="rId4" Type="http://schemas.openxmlformats.org/officeDocument/2006/relationships/tags" Target="../tags/tag7.xml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3" imgW="8255" imgH="8255" progId="TCLayout.ActiveDocument.1">
                  <p:embed/>
                </p:oleObj>
              </mc:Choice>
              <mc:Fallback>
                <p:oleObj name="think-cell 幻灯片" r:id="rId3" imgW="8255" imgH="8255" progId="TCLayout.ActiveDocument.1">
                  <p:embed/>
                  <p:pic>
                    <p:nvPicPr>
                      <p:cNvPr id="0" name="图片 205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669925" y="3689103"/>
            <a:ext cx="6565901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673099" y="1120776"/>
            <a:ext cx="6565901" cy="2048122"/>
          </a:xfrm>
        </p:spPr>
        <p:txBody>
          <a:bodyPr vert="horz" anchor="b">
            <a:normAutofit/>
          </a:bodyPr>
          <a:lstStyle>
            <a:lvl1pPr algn="l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 rot="20346747">
            <a:off x="3618610" y="3906838"/>
            <a:ext cx="7714175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 spc="1200" baseline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73099" y="732429"/>
            <a:ext cx="10845800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9" name="组合 8"/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-8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312" b="4312"/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cxnSp>
          <p:nvCxnSpPr>
            <p:cNvPr id="11" name="直接连接符 4"/>
            <p:cNvCxnSpPr/>
            <p:nvPr userDrawn="1"/>
          </p:nvCxnSpPr>
          <p:spPr>
            <a:xfrm flipV="1">
              <a:off x="0" y="2695575"/>
              <a:ext cx="1492143" cy="1466850"/>
            </a:xfrm>
            <a:prstGeom prst="line">
              <a:avLst/>
            </a:prstGeom>
            <a:ln w="22225" cap="rnd">
              <a:solidFill>
                <a:schemeClr val="bg1">
                  <a:lumMod val="85000"/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bg>
      <p:bgPr>
        <a:solidFill>
          <a:schemeClr val="bg1">
            <a:alpha val="7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7" y="3429000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7523" y="4324350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alphaModFix amt="5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4312" b="431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sz="quarter" idx="13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6" name="图形 5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520487" y="214181"/>
            <a:ext cx="412732" cy="60033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4949945" y="1135063"/>
            <a:ext cx="5816598" cy="3667996"/>
          </a:xfr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949946" y="5823229"/>
            <a:ext cx="5816598" cy="314046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600" marR="0" lvl="0" indent="-228600" fontAlgn="auto">
              <a:spcAft>
                <a:spcPts val="0"/>
              </a:spcAft>
              <a:buClrTx/>
              <a:buSzTx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/>
          <p:cNvSpPr>
            <a:spLocks noGrp="1"/>
          </p:cNvSpPr>
          <p:nvPr>
            <p:ph type="body" sz="quarter" idx="10" hasCustomPrompt="1"/>
          </p:nvPr>
        </p:nvSpPr>
        <p:spPr>
          <a:xfrm>
            <a:off x="4949948" y="5526958"/>
            <a:ext cx="5816598" cy="299297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3000"/>
    </mc:Choice>
    <mc:Fallback xmlns="">
      <p:transition spd="slow" advClick="0" advTm="300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  <a:t>2026/4/8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tags" Target="../tags/tag2.xml"/><Relationship Id="rId11" Type="http://schemas.openxmlformats.org/officeDocument/2006/relationships/oleObject" Target="../embeddings/oleObject1.bin"/><Relationship Id="rId1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对象 4" hidden="1"/>
          <p:cNvGraphicFramePr>
            <a:graphicFrameLocks noChangeAspect="1"/>
          </p:cNvGraphicFramePr>
          <p:nvPr userDrawn="1">
            <p:custDataLst>
              <p:tags r:id="rId10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幻灯片" r:id="rId11" imgW="8255" imgH="8255" progId="TCLayout.ActiveDocument.1">
                  <p:embed/>
                </p:oleObj>
              </mc:Choice>
              <mc:Fallback>
                <p:oleObj name="think-cell 幻灯片" r:id="rId11" imgW="8255" imgH="8255" progId="TCLayout.ActiveDocument.1">
                  <p:embed/>
                  <p:pic>
                    <p:nvPicPr>
                      <p:cNvPr id="0" name="图片 1029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/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10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会展区客户满意度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/02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展览主承办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9.14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9.14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会展服务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9.33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9.27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销售经理服务态度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销售经理业务能力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现场对接协调沟通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现场对接服务效率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工作人员仪容仪表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工作人员业务技能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报馆流程及服务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现场布置与搭建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在线服务渠道便捷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撤展服务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展后回访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整体协调和配合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5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服务响应及时性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626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设备租赁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9.29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交通流线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货运通道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设施设备齐全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展厅使用情况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配套服务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安保服务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保洁服务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智慧场馆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8.5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杭州国博APP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室内导航系统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寻车系统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3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云上看馆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会展客户——展览活动主（承）办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整体满意度维持高位，展览活动主（承）办客户总体满意度为9.14，各维度表现较为均衡。其中，硬件设施得分最高，为9.71，园区停车方便、交通便利、标识标牌清晰、设施设备齐全、展厅使用情况等均达到10分，场馆基础条件优势较为突出；会展服务得分9.33，销售经理服务态度、业务能力以及现场对接协调沟通、服务效率均获10分，前端销售与现场协同表现突出。相对来看，短板主要集中在智慧场馆，满意度为8.5，低于其他二级指标，寻车系统和云上看馆均为8分，室内导航系统为9分且低于其重要性，数字化服务体验仍需重点关注。配套服务保持稳定，安保、保洁均为9分。个别具体服务项中，设备租赁满意度为9分，低于其重要性，亦建议纳入后续优化重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参展商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9.65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1085392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会场服务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9.99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工作人员仪容仪表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工作人员业务技能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现场布置与搭建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接待引导服务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9.13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8.79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设施设备齐全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9.33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展厅使用情况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9.13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参展环境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配套服务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9.83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安保服务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3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保洁服务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会展客户——参展商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参展商整体满意度为9.65，维持较高水平，整体体验较为稳健，但与满分重要性相比仍存在一定提升空间。分项看，会场服务表现最优，满意度达9.99，工作人员仪容仪表、服务态度、业务技能均为10分，现场布置与搭建为9.96，体现出一线服务与现场执行获得高度认可。配套服务同样处于高位，满意度为9.83，其中安保服务、保洁服务均为10分，餐饮服务为9.5，整体支撑较好。相较之下，硬件设施为9.13，是当前相对偏弱的板块，短板主要集中在园区停车方便（8分）和标识标牌清晰（8.79分），交通便利、设施设备齐全、展厅使用情况虽保持较好水平，但与其他高分项相比仍有差距。后续建议优先关注参展动线与到场便利相关体验点，推动整体满意度进一步提升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专业观众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9.77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1085392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会展服务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工作人员仪容仪表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工作人员业务技能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接待引导服务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9.37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展会路线安排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9.37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9.27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设施设备齐全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展厅使用情况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参展环境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配套服务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9.95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2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安保服务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23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保洁服务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会展客户——专业观众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专业观众整体满意度为9.77，维持高位，整体体验较好。分项看，会展服务表现最为稳健，满意度达到10分，工作人员仪容仪表、服务态度和业务技能均获满分，现场服务能力认可度较高。配套服务同样处于高水平，满意度为9.95，其中安保服务、保洁服务均为10分，餐饮服务为9.85，整体保障较为到位。相较之下，短板主要集中在硬件设施，满意度为9.37，低于整体水平，也是与重要性差异相对集中的板块。三级指标中，园区停车方便为8分，是当前最需关注的单项；标识标牌清晰为9.27，展会路线安排为9.37，也存在一定优化空间。交通便利、设施设备齐全、展厅使用情况及参展环境均保持在9.67分及以上，整体基础条件较好，但后续仍需优先围绕停车组织、动线安排和标识清晰度持续提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会议主承办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9.47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9.22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会展服务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9.67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9.63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销售经理服务态度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销售经理业务能力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现场对接协调沟通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现场对接服务效率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工作人员仪容仪表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工作人员业务技能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现场布置与搭建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茶歇服务与品质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在线服务渠道便捷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9.29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报馆流程及服务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工程设施设备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撤会服务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9.29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会后回访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9.14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整体协调和配合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服务响应及时性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9.66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9.38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9.29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9.29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会议厅室匹配性，方便性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设施设备齐全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休息空间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8.8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9.71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AV效果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交通流线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配套服务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9.56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9.11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9.14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9.14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安保服务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9.25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保洁服务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9.29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智慧场馆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8.75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杭州国博APP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室内导航系统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寻车系统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3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云上看馆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会展客户——会议活动主（承）办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整体满意度维持高位，会议活动主（承）办客户总体满意度为9.47，各二级板块均处于9分以上，其中会展服务和硬件设施表现最优，分别为9.67和9.66，配套服务为9.56，智慧场馆为9.00。优势主要集中在现场服务执行与基础设施支撑，现场对接协调沟通、工作人员服务态度与仪容仪表、设施设备齐全、AV效果等指标均达到10分，现场对接服务效率、保洁服务、交通便利、会议厅室匹配性等也保持较高水平。相对偏弱的环节主要集中在服务闭环和部分配套体验，会后回访9.14、餐饮服务9.14、安保服务9.25、标识标牌清晰9.29、在线服务渠道便捷9.43、交通流线9.43。结合满意度与重要性差异看，销售经理业务能力、会后回访和整体协调配合等仍有提升空间，后续宜优先关注高关注度场景下的服务稳定性与体验完整度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会展客户——参会客户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参会人员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9.81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会展服务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工作人员仪容仪表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工作人员业务技能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接待引导服务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茶歇服务品质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9.58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9.24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会议厅室匹配性，方便性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设施设备齐全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休息空间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8.68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AV效果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参会环境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配套服务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9.86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安保服务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保洁服务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会展客户——参会客户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参会客户整体满意度维持高位，总体得分9.81，整体服务表现较为稳健。分项看，会展服务表现最优，二级指标达到10分，工作人员仪容仪表、业务技能、服务态度、接待引导等核心触点均获满分，茶歇服务品质也保持在9.99的高水平，体现出现场服务端稳定性较强。配套服务整体较好，安保服务、保洁服务均为10分，客房服务为9.87分，餐饮服务为9.55分，仍有进一步提升空间。相较之下，硬件设施为当前相对薄弱环节，二级指标得分9.58，其中休息空间、AV效果、参会环境保持较高水准，但标识标牌清晰度为9.24分、园区停车方便为8.68分，与重要性相比存在更明显差距，交通便利、厅室匹配性及设施设备齐全虽处较好水平，后续仍需重点关注硬件导视与停车体验等关键触点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餐饮区客户满意度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/03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商务简餐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9.59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1085392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9.98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菜品温度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菜品分量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供应速度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菜品卫生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工作人员服务品质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就餐区域温度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就餐区域卫生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9.2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8.4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7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818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9.36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餐饮客户——商务简餐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商务简餐整体满意度维持高位，达到9.59分，客户对核心用餐体验评价较好。其中，餐饮服务表现突出，二级指标为9.98分，菜品温度、分量、供应速度、菜品卫生、工作人员服务品质及就餐区域卫生均获10分，服务稳定性较强；就餐区域温度为9.84分，也保持较好水平。相较之下，短板主要集中在硬件设施，二级指标为9.20分，低于整体表现，其中园区停车方便仅8.40分，是当前最明显的承压点；标识标牌清晰为9.36分，仍有优化空间；交通便利、容易到达为9.84分，处于较好水平。结合各项评分看，商务简餐的优势集中在餐饮出品与现场服务，后续需重点关注停车便利性及导视体验等硬件触点，以带动整体满意度进一步提升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自助餐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1085392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菜肴品种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菜品供应速度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菜品口味口相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菜品地方特色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接待指引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工作人员服务品质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就餐区域温度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就餐区域卫生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1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餐饮客户——自助餐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自助餐客户满意度维持高位，整体评价达到满分，服务体验表现稳定，当前未见明显短板。分项来看，餐饮服务相关指标均处于满分水平，菜肴品种、供应速度、口味口感、地方特色以及工作人员服务品质均获得充分认可，就餐区域温度与卫生表现同样稳定，基础服务与现场体验保持一致。硬件设施方面，交通便利性和标识标牌清晰度评价同样较高，客户在到达与动线识别环节感受顺畅。结合满意度与重要性对照，各项指标均实现同分匹配，尚未出现高重要度下的相对弱项。整体来看，自助餐业务当前处于较优状态，后续重点在于保持现有服务标准和交付稳定性，持续巩固客户高满意基础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宴会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9.85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10853928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9.95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菜品温度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菜肴品种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菜品供应速度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菜品口味品相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菜品地方特色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接待指引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就餐区域温度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就餐区域卫生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工作人员服务品质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9.75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9.52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宴会视听设备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89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290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餐饮客户——宴会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宴会客户满意度整体维持高位，总体评分为9.85分，整体服务表现较为稳健，与重要性相比仅存在小幅差距。分项看，餐饮服务表现更优，满意度达到9.95分，其中菜品温度、菜肴品种、菜品供应速度、接待指引、就餐区域卫生及工作人员服务品质均获10分，属于当前宴会体验中的突出优势；菜品地方特色、就餐区域温度及菜品口味品相虽略低于满分，但仍处于较高水平。相较之下，硬件设施满意度为9.75分，是当前相对偏弱的板块，短板主要集中在标识标牌清晰度9.52分和园区停车方便性9.6分，与重要性之间存在相对更明显差距；交通便利、容易到达为9.88分，宴会视听设备获10分，保持良好支撑。整体来看，宴会业务当前优势集中在餐饮交付与现场服务，后续需优先关注来场动线识别和停车体验等硬件相关环节，推动整体体验进一步均衡提升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组合 2"/>
          <p:cNvGrpSpPr/>
          <p:nvPr/>
        </p:nvGrpSpPr>
        <p:grpSpPr>
          <a:xfrm>
            <a:off x="6470613" y="2315714"/>
            <a:ext cx="5420301" cy="2680440"/>
            <a:chOff x="6470613" y="2315714"/>
            <a:chExt cx="5420301" cy="2680440"/>
          </a:xfrm>
        </p:grpSpPr>
        <p:sp>
          <p:nvSpPr>
            <p:cNvPr id="3" name="标题 4"/>
            <p:cNvSpPr txBox="1"/>
            <p:nvPr/>
          </p:nvSpPr>
          <p:spPr>
            <a:xfrm>
              <a:off x="6471729" y="4100804"/>
              <a:ext cx="5419185" cy="895350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2400" b="1" kern="1200">
                  <a:solidFill>
                    <a:schemeClr val="bg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zh-CN" altLang="en-US" dirty="0"/>
                <a:t>酒店区客户满意度及酒店暗访评分</a:t>
              </a:r>
            </a:p>
          </p:txBody>
        </p:sp>
        <p:sp>
          <p:nvSpPr>
            <p:cNvPr id="4" name="文本框 7"/>
            <p:cNvSpPr txBox="1"/>
            <p:nvPr/>
          </p:nvSpPr>
          <p:spPr>
            <a:xfrm>
              <a:off x="6470613" y="2315714"/>
              <a:ext cx="2053096" cy="1785090"/>
            </a:xfrm>
            <a:prstGeom prst="rect">
              <a:avLst/>
            </a:prstGeom>
            <a:noFill/>
            <a:ln w="117475">
              <a:noFill/>
            </a:ln>
          </p:spPr>
          <p:txBody>
            <a:bodyPr wrap="none" rtlCol="0">
              <a:prstTxWarp prst="textPlain">
                <a:avLst/>
              </a:prstTxWarp>
              <a:spAutoFit/>
            </a:bodyPr>
            <a:lstStyle/>
            <a:p>
              <a:r>
                <a:rPr lang="en-US" altLang="zh-CN" spc="100" dirty="0">
                  <a:solidFill>
                    <a:schemeClr val="bg1"/>
                  </a:solidFill>
                  <a:latin typeface="Impact" panose="020B0806030902050204" pitchFamily="34" charset="0"/>
                  <a:cs typeface="Arial" panose="020B0604020202020204" pitchFamily="34" charset="0"/>
                </a:rPr>
                <a:t>/04</a:t>
              </a:r>
              <a:endParaRPr lang="zh-CN" altLang="en-US" spc="100" dirty="0">
                <a:solidFill>
                  <a:schemeClr val="bg1"/>
                </a:solidFill>
                <a:latin typeface="Impact" panose="020B0806030902050204" pitchFamily="34" charset="0"/>
                <a:cs typeface="Arial" panose="020B0604020202020204" pitchFamily="34" charset="0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酒店客户——酒店住宿团队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住宿团队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9.94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9.86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9.87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适合商务旅行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9.33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客房整体环境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客房设施设备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9.96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住宿用品质量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客房私密性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入住服务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礼宾服务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入住登记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离店退房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工作人员仪容仪表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工作人员业务技能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9.97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自助早餐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9.92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自助晚餐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0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送餐服务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3315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零点服务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酒店客户——酒店住宿团队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酒店住宿团队整体满意度维持高位，总体得分9.94，客户体验基础较稳。其中，入住服务表现最优，二级指标达到10分，入住登记、客房服务、离店退房以及人员仪容、态度、业务技能均处于满分水平，服务流程与人员表现较为突出。餐饮服务保持较好水准，得分9.97，送餐服务、零点服务均获满分，自助早餐略有差距但仍处高位。硬件设施相对是当前短板集中区域，二级指标为9.86；客房整体环境、设施设备、住宿用品质量和私密性评价较好，商务适配性也获满分，但园区停车方便性得分9.33，为各项中最低，与客户期望存在较明显差距，标识标牌清晰度9.74、交通便利性9.87也相对偏弱，后续可优先围绕到达与通行体验持续关注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酒店客户——酒店参会客户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酒店参会客户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9.82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会展服务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工作人员仪容仪表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工作人员业务技能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工作人员服务态度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1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接待引导服务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/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614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茶歇服务品质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9.63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9.35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会议厅室匹配性，方便性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9.45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设施设备齐全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休息空间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AV效果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参会环境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配套服务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9.83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9.67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客房服务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9.64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安保服务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保洁服务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酒店客户——酒店参会客户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酒店参会客户满意度维持高位，总体得分为9.82，整体服务表现较为稳健。分维度看，会展服务达到满分10分，工作人员仪容仪表、业务技能、服务态度及茶歇服务均表现突出，是当前体验优势最集中的部分；配套服务得分9.83，其中安保、保洁表现较好，餐饮服务和客房服务虽保持较高水平，但与满分仍有一定差距。相较之下，硬件设施得分9.63，是当前相对偏弱环节，短板主要集中在园区停车方便、标识标牌清晰、会议厅室匹配性与方便性等触点；交通便利、设施设备、参会环境整体较好，休息空间与AV效果表现突出。结合满意度与重要性对比，后续应优先聚焦硬件设施中的关键接触点优化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67512" y="1325880"/>
          <a:ext cx="10853928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29435"/>
                <a:gridCol w="2062246"/>
                <a:gridCol w="2062247"/>
              </a:tblGrid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酒店餐饮客户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9.85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D87A96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餐饮服务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9.99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菜品温度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菜肴品种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菜品供应速度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菜品口味品相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菜品地方特色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9.95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接待指引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就餐区域温度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就餐区域卫生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工作人员服务品质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菜品口味口相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菜品分量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供应速度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菜品卫生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36208" y="1920240"/>
          <a:ext cx="528523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6843"/>
                <a:gridCol w="1004194"/>
                <a:gridCol w="1004195"/>
              </a:tblGrid>
              <a:tr h="754380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指标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满意度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重要性</a:t>
                      </a:r>
                    </a:p>
                  </a:txBody>
                  <a:tcPr anchor="ctr" marL="50800" marR="50800" marT="25400" marB="25400">
                    <a:solidFill>
                      <a:srgbClr val="BF1E4B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硬件设施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9.72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E49AAF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标识标牌清晰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9.68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宴会视听设备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园区停车方便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交通便利，容易到达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9.73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0" sz="1050">
                          <a:solidFill>
                            <a:srgbClr val="4D5874"/>
                          </a:solidFill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4E8EA"/>
                    </a:solidFill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酒店客户——酒店餐饮客户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444752"/>
            <a:ext cx="5074920" cy="466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89320" y="1444752"/>
            <a:ext cx="5029200" cy="4663440"/>
          </a:xfrm>
          <a:prstGeom prst="rect">
            <a:avLst/>
          </a:prstGeom>
          <a:solidFill>
            <a:srgbClr val="F7E8EC"/>
          </a:solidFill>
          <a:ln w="12700">
            <a:solidFill>
              <a:srgbClr val="E8D5DA"/>
            </a:solidFill>
          </a:ln>
        </p:spPr>
        <p:txBody>
          <a:bodyPr wrap="square" anchor="t" lIns="228600" rIns="228600" tIns="228600" bIns="228600">
            <a:spAutoFit/>
          </a:bodyPr>
          <a:lstStyle/>
          <a:p>
            <a:pPr algn="l" indent="355600">
              <a:lnSpc>
                <a:spcPct val="130000"/>
              </a:lnSpc>
              <a:spcAft>
                <a:spcPts val="600"/>
              </a:spcAft>
            </a:pPr>
            <a:r>
              <a:rPr sz="1400" lang="zh-CN">
                <a:solidFill>
                  <a:srgbClr val="5D667A"/>
                </a:solidFill>
                <a:latin typeface="Kaiti SC"/>
                <a:ea typeface="Kaiti SC"/>
                <a:cs typeface="Kaiti SC"/>
              </a:rPr>
              <a:t>酒店餐饮客户满意度维持高位，整体得分9.85，客户评价总体稳定且表现较强。其中，餐饮服务为当前优势板块，满意度达到9.99，菜品温度、菜肴品种、供应速度、口味品相、接待指引、就餐区域温度与卫生、工作人员服务品质、菜品分量及菜品卫生等多项指标均达到10分，显示核心用餐体验较为扎实；菜品地方特色为9.95，也保持较好水平。相对来看，短板主要集中在硬件设施环节，满意度为9.72，低于整体水平，其中标识标牌清晰度9.68、交通便利及到达便捷性9.73，是当前相对承压的具体点位。餐饮服务内部，菜品口味口相为9.78，也略低于其他多数满分指标。结合各项指标均处于高关注范围，后续宜在保持餐饮服务优势的同时，优先补强导视与到达体验，并持续关注个别菜品感知项的稳定性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ISLIDE.THEME" val="139e2a88-c592-4b5f-9711-ddb123b4f82c"/>
  <p:tag name="ISLIDE.TEMPLATE" val="#418440"/>
  <p:tag name="THINKCELLUNDODONOTDELETE" val="0"/>
  <p:tag name="COMMONDATA" val="eyJoZGlkIjoiODBlOWQwN2ZjNDU2Y2MzMGMzMjc5ZTMyYjVjMGM0YzcifQ=="/>
  <p:tag name="RESOURCE_RECORD_KEY" val="{&quot;10&quot;:[20253784],&quot;65&quot;:[20235185],&quot;70&quot;:[3322390,3322458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a*1"/>
  <p:tag name="KSO_WM_UNIT_LAYERLEVEL" val="1"/>
  <p:tag name="KSO_WM_TAG_VERSION" val="3.0"/>
  <p:tag name="KSO_WM_BEAUTIFY_FLAG" val="#wm#"/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TYPE" val="a"/>
  <p:tag name="KSO_WM_UNIT_INDEX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theme1.xml><?xml version="1.0" encoding="utf-8"?>
<a:theme xmlns:a="http://schemas.openxmlformats.org/drawingml/2006/main" name="3_主题5">
  <a:themeElements>
    <a:clrScheme name="自定义 1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BB2648"/>
      </a:accent1>
      <a:accent2>
        <a:srgbClr val="26BB99"/>
      </a:accent2>
      <a:accent3>
        <a:srgbClr val="9098A6"/>
      </a:accent3>
      <a:accent4>
        <a:srgbClr val="908992"/>
      </a:accent4>
      <a:accent5>
        <a:srgbClr val="5B5E71"/>
      </a:accent5>
      <a:accent6>
        <a:srgbClr val="838584"/>
      </a:accent6>
      <a:hlink>
        <a:srgbClr val="C92523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Mila</Template>
  <TotalTime>289</TotalTime>
  <Words>7</Words>
  <Application>Microsoft Macintosh PowerPoint</Application>
  <PresentationFormat>宽屏</PresentationFormat>
  <Paragraphs>1</Paragraphs>
  <Slides>1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Calibri</vt:lpstr>
      <vt:lpstr>等线</vt:lpstr>
      <vt:lpstr>Arial</vt:lpstr>
      <vt:lpstr>3_主题5</vt:lpstr>
      <vt:lpstr>think-cell 幻灯片</vt:lpstr>
      <vt:lpstr>项目执行情况—样本收集情况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Mila</dc:creator>
  <cp:lastModifiedBy>张奇进</cp:lastModifiedBy>
  <cp:revision>1466</cp:revision>
  <cp:lastPrinted>2020-04-29T16:00:00Z</cp:lastPrinted>
  <dcterms:created xsi:type="dcterms:W3CDTF">2020-04-29T16:00:00Z</dcterms:created>
  <dcterms:modified xsi:type="dcterms:W3CDTF">2026-04-08T15:59:48Z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  <property fmtid="{D5CDD505-2E9C-101B-9397-08002B2CF9AE}" pid="3" name="ICV">
    <vt:lpwstr>4244D058C3234304A8CAFD4066DC7AD4_13</vt:lpwstr>
  </property>
  <property fmtid="{D5CDD505-2E9C-101B-9397-08002B2CF9AE}" pid="4" name="KSOProductBuildVer">
    <vt:lpwstr>2052-12.1.0.25225</vt:lpwstr>
  </property>
</Properties>
</file>