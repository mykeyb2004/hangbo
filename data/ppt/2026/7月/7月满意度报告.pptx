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embeddedFontLst>
    <p:embeddedFont>
      <p:font typeface="等线" panose="02010600030101010101" pitchFamily="2" charset="-122"/>
      <p:regular r:id="rId38"/>
      <p:bold r:id="rId39"/>
    </p:embeddedFont>
    <p:embeddedFont>
      <p:font typeface="楷体" panose="02010609060101010101" pitchFamily="49" charset="-122"/>
      <p:regular r:id="rId40"/>
    </p:embeddedFont>
    <p:embeddedFont>
      <p:font typeface="Impact" panose="020B0806030902050204" pitchFamily="34" charset="0"/>
      <p:regular r:id="rId41"/>
    </p:embeddedFont>
  </p:embeddedFontLst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6" autoAdjust="0"/>
    <p:restoredTop sz="92000" autoAdjust="0"/>
  </p:normalViewPr>
  <p:slideViewPr>
    <p:cSldViewPr snapToGrid="0" showGuides="1">
      <p:cViewPr varScale="1">
        <p:scale>
          <a:sx n="152" d="100"/>
          <a:sy n="152" d="100"/>
        </p:scale>
        <p:origin x="1216" y="192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总体判断：展览主承办满意度9.9，体验主要由会展服务、配套服务和智慧场馆支撑，服务响应、现场协同及配套保障评价稳定。</a:t>
            </a:r>
          </a:p>
          <a:p>
            <a:r>
              <a:t>亮点：配套服务、智慧场馆均为10分，销售经理、现场对接、安保、餐饮等关键触点达到满分。</a:t>
            </a:r>
          </a:p>
          <a:p>
            <a:r>
              <a:t>关注点：硬件设施相对偏弱，货运通道9.4、设施设备齐全9.2；在线服务渠道便捷性9.67也有提升空间。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总体判断：参展商满意度为9.73，体验基础主要由会场服务和配套服务支撑，硬件设施相对偏弱。</a:t>
            </a:r>
          </a:p>
          <a:p>
            <a:r>
              <a:t>亮点：工作人员仪容仪表、服务态度、业务技能及客房、安保、保洁均为10分。</a:t>
            </a:r>
          </a:p>
          <a:p>
            <a:r>
              <a:t>关注点：园区停车方便得分8.29，标识标牌、展厅使用、交通便利也低于总体水平，需作为硬件体验优化重点。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总体判断：专业观众体验主要由会展服务满分表现和配套服务9.93支撑，服务接触环节稳定。</a:t>
            </a:r>
          </a:p>
          <a:p>
            <a:r>
              <a:t>亮点：工作人员仪容仪表、服务态度、业务技能均为10分，客房、安保、保洁服务同样达到10分。</a:t>
            </a:r>
          </a:p>
          <a:p>
            <a:r>
              <a:t>关注点：硬件设施9.57相对偏弱，展会路线安排9.27最低，标识标牌、展厅使用情况均为9.47，需优先关注到达与现场导引体验。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总体判断：会展服务商满意度9.94，体验主要由会展服务与配套服务满分支撑，现场协同、响应效率及后勤保障评价稳定。</a:t>
            </a:r>
          </a:p>
          <a:p>
            <a:r>
              <a:t>亮点：会展服务、配套服务均为10分，关键触点覆盖现场对接、搭撤展、餐饮客房、安保保洁等环节。</a:t>
            </a:r>
          </a:p>
          <a:p>
            <a:r>
              <a:t>关注点：硬件设施为9.81，相对偏弱集中在设施设备齐全度8.5，且重要性为10，需优先关注。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总体判断：会议主承办满意度9.92，体验主要由会展服务9.96及多项现场服务满分支撑，硬件设施9.88相对偏弱。</a:t>
            </a:r>
          </a:p>
          <a:p>
            <a:r>
              <a:t>亮点：销售经理、现场对接、工作人员服务、布置搭建、报馆撤会及响应及时性均为10分。</a:t>
            </a:r>
          </a:p>
          <a:p>
            <a:r>
              <a:t>关注点：设施设备齐全9.33，茶歇、工程设施设备、园区停车、餐饮服务均为9.67，且重要性为10，需优先核查体验短板。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总体判断：参会人员满意度9.83，体验基础主要来自会展服务满分及配套服务9.92，硬件设施9.57相对偏弱。</a:t>
            </a:r>
          </a:p>
          <a:p>
            <a:r>
              <a:t>亮点：工作人员服务、茶歇、餐饮、安保、保洁及AV效果均为10分，现场服务触点稳定。</a:t>
            </a:r>
          </a:p>
          <a:p>
            <a:r>
              <a:t>关注点：园区停车8.3明显低于其他指标，标识标牌9.43、会议厅室匹配性9.52仍有提升空间。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总体判断：商务简餐体验主要由智慧场馆和餐饮服务支撑，寻车系统、供应速度、服务品质及就餐卫生表现相对稳定，硬件设施为弱势项。</a:t>
            </a:r>
          </a:p>
          <a:p>
            <a:r>
              <a:t>关注点：园区停车方便、菜品分量、标识标牌清晰得分偏低，就餐区域温度满意度低于重要性，需优先关注到达与用餐舒适环节。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总体判断：特色美食廊满意度9.21，体验主要由智慧场馆、交通到达和就餐环境支撑，餐饮服务与硬件设施相对偏弱。</a:t>
            </a:r>
          </a:p>
          <a:p>
            <a:r>
              <a:t>关注点：菜品口味品相、菜肴品质、地方特色得分偏低；园区停车方便与标识标牌清晰度也低于其重要性水平。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总体判断：游客满意度9.97，体验主要由旅游服务支撑，售票、设施、卫生、安全、人员服务与讲解均为满分。</a:t>
            </a:r>
          </a:p>
          <a:p>
            <a:r>
              <a:t>亮点：旅游服务二级指标达到10分，服务链条各接触点评价一致性较强。</a:t>
            </a:r>
          </a:p>
          <a:p>
            <a:r>
              <a:t>关注点：硬件设施相对偏弱，标识标牌清晰度9.89低于交通便利性9.96，是游客体验中需优先优化的细项。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总体判断：旅行社工作人员满意度9.82，体验基础主要来自旅游服务各环节满分评价，硬件设施相对偏弱。</a:t>
            </a:r>
          </a:p>
          <a:p>
            <a:r>
              <a:t>亮点：售票/销售、景点设施、环境卫生、安全服务、人员形象与服务态度、讲解专业性均为10分。</a:t>
            </a:r>
          </a:p>
          <a:p>
            <a:r>
              <a:t>关注点：硬件设施9.63，其中交通便利性9.25，低于标识标牌清晰度，仍有提升空间。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总体判断：散客满意度9.84，体验主要由入住服务、餐饮服务及客房相关环节支撑，服务端表现稳定。</a:t>
            </a:r>
          </a:p>
          <a:p>
            <a:r>
              <a:t>亮点：入住登记、客房服务、离店退房、自助早餐等均为满分，商务出行与客房体验认可度突出。</a:t>
            </a:r>
          </a:p>
          <a:p>
            <a:r>
              <a:t>关注点：硬件设施相对偏弱，园区停车方便7.5、标识标牌清晰9.22，需优先关注到达与导引体验。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总体判断：住宿团队满意度为9.89，体验主要由入住服务满分、餐饮服务接近满分及客房相关指标稳定支撑，服务端表现优于硬件端。</a:t>
            </a:r>
          </a:p>
          <a:p>
            <a:r>
              <a:t>亮点：入住服务各项均为10分，礼宾、登记、客房服务、退房及人员表现一致性较强。</a:t>
            </a:r>
          </a:p>
          <a:p>
            <a:r>
              <a:t>关注点：硬件设施为相对偏弱板块，其中园区停车方便8.5、标识标牌清晰9.65，需优先关注到达与园区动线体验。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总体判断：酒店参会客户满意度9.95，体验支撑集中在会展服务及配套服务，硬件设施为相对偏弱环节。</a:t>
            </a:r>
          </a:p>
          <a:p>
            <a:r>
              <a:t>亮点：会展服务各项均为10分，餐饮、安保、保洁等配套触点也达到满分。</a:t>
            </a:r>
          </a:p>
          <a:p>
            <a:r>
              <a:t>关注点：标识标牌清晰度9.5、会议厅室匹配性9.67、客房服务9.83，需作为后续优化重点。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总体判断：酒店会议主承办满意度达9.96，体验基础主要由会展服务、配套服务和硬件设施共同支撑。</a:t>
            </a:r>
          </a:p>
          <a:p>
            <a:r>
              <a:t>亮点：销售对接、现场服务、餐饮客房、安保保洁等多数触点均为10分。</a:t>
            </a:r>
          </a:p>
          <a:p>
            <a:r>
              <a:t>关注点：撤会服务9分、休息空间9.5分，相比其他环节偏弱，且撤会服务低于其重要性评分。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总体判断：酒店餐饮客户满意度为9.53，体验主要由餐饮服务支撑，菜品温度、接待指引及服务品质表现稳定；硬件设施相对偏弱。</a:t>
            </a:r>
          </a:p>
          <a:p>
            <a:r>
              <a:t>关注点：园区停车方便得分8.00，标识标牌清晰、交通到达便利及菜品地方特色也低于餐饮服务均值，需优先关注到达与现场识别体验。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总体判断：展览主承办满意度9.9，体验主要由会展服务、配套服务和智慧场馆支撑，服务响应、现场协同及配套保障评价稳定。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亮点：配套服务、智慧场馆均为10分，销售经理、现场对接、安保、餐饮等关键触点达到满分。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关注点：硬件设施相对偏弱，货运通道9.4、设施设备齐全9.2；在线服务渠道便捷性9.67也有提升空间。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总体判断：参展商满意度为9.73，体验基础主要由会场服务和配套服务支撑，硬件设施相对偏弱。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亮点：工作人员仪容仪表、服务态度、业务技能及客房、安保、保洁均为10分。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关注点：园区停车方便得分8.29，标识标牌、展厅使用、交通便利也低于总体水平，需作为硬件体验优化重点。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总体判断：专业观众体验主要由会展服务满分表现和配套服务9.93支撑，服务接触环节稳定。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亮点：工作人员仪容仪表、服务态度、业务技能均为10分，客房、安保、保洁服务同样达到10分。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关注点：硬件设施9.57相对偏弱，展会路线安排9.27最低，标识标牌、展厅使用情况均为9.47，需优先关注到达与现场导引体验。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总体判断：会展服务商满意度9.94，体验主要由会展服务与配套服务满分支撑，现场协同、响应效率及后勤保障评价稳定。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亮点：会展服务、配套服务均为10分，关键触点覆盖现场对接、搭撤展、餐饮客房、安保保洁等环节。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关注点：硬件设施为9.81，相对偏弱集中在设施设备齐全度8.5，且重要性为10，需优先关注。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总体判断：会议主承办满意度9.92，体验主要由会展服务9.96及多项现场服务满分支撑，硬件设施9.88相对偏弱。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亮点：销售经理、现场对接、工作人员服务、布置搭建、报馆撤会及响应及时性均为10分。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关注点：设施设备齐全9.33，茶歇、工程设施设备、园区停车、餐饮服务均为9.67，且重要性为10，需优先核查体验短板。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总体判断：参会人员满意度9.83，体验基础主要来自会展服务满分及配套服务9.92，硬件设施9.57相对偏弱。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亮点：工作人员服务、茶歇、餐饮、安保、保洁及AV效果均为10分，现场服务触点稳定。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关注点：园区停车8.3明显低于其他指标，标识标牌9.43、会议厅室匹配性9.52仍有提升空间。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9.12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8.54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总体判断：商务简餐体验主要由智慧场馆和餐饮服务支撑，寻车系统、供应速度、服务品质及就餐卫生表现相对稳定，硬件设施为弱势项。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关注点：园区停车方便、菜品分量、标识标牌清晰得分偏低，就餐区域温度满意度低于重要性，需优先关注到达与用餐舒适环节。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9.21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8.05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8.25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总体判断：特色美食廊满意度9.21，体验主要由智慧场馆、交通到达和就餐环境支撑，餐饮服务与硬件设施相对偏弱。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关注点：菜品口味品相、菜肴品质、地方特色得分偏低；园区停车方便与标识标牌清晰度也低于其重要性水平。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总体判断：游客满意度9.97，体验主要由旅游服务支撑，售票、设施、卫生、安全、人员服务与讲解均为满分。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亮点：旅游服务二级指标达到10分，服务链条各接触点评价一致性较强。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关注点：硬件设施相对偏弱，标识标牌清晰度9.89低于交通便利性9.96，是游客体验中需优先优化的细项。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总体判断：旅行社工作人员满意度9.82，体验基础主要来自旅游服务各环节满分评价，硬件设施相对偏弱。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亮点：售票/销售、景点设施、环境卫生、安全服务、人员形象与服务态度、讲解专业性均为10分。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关注点：硬件设施9.63，其中交通便利性9.25，低于标识标牌清晰度，仍有提升空间。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总体判断：散客满意度9.84，体验主要由入住服务、餐饮服务及客房相关环节支撑，服务端表现稳定。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亮点：入住登记、客房服务、离店退房、自助早餐等均为满分，商务出行与客房体验认可度突出。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关注点：硬件设施相对偏弱，园区停车方便7.5、标识标牌清晰9.22，需优先关注到达与导引体验。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总体判断：住宿团队满意度为9.89，体验主要由入住服务满分、餐饮服务接近满分及客房相关指标稳定支撑，服务端表现优于硬件端。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亮点：入住服务各项均为10分，礼宾、登记、客房服务、退房及人员表现一致性较强。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关注点：硬件设施为相对偏弱板块，其中园区停车方便8.5、标识标牌清晰9.65，需优先关注到达与园区动线体验。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总体判断：酒店参会客户满意度9.95，体验支撑集中在会展服务及配套服务，硬件设施为相对偏弱环节。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亮点：会展服务各项均为10分，餐饮、安保、保洁等配套触点也达到满分。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关注点：标识标牌清晰度9.5、会议厅室匹配性9.67、客房服务9.83，需作为后续优化重点。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总体判断：酒店会议主承办满意度达9.96，体验基础主要由会展服务、配套服务和硬件设施共同支撑。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亮点：销售对接、现场服务、餐饮客房、安保保洁等多数触点均为10分。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关注点：撤会服务9分、休息空间9.5分，相比其他环节偏弱，且撤会服务低于其重要性评分。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marL="50800" marR="50800" marT="12700" marB="127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marL="50800" marR="50800" marT="12700" marB="127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marL="50800" marR="50800" marT="12700" marB="127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总体判断：酒店餐饮客户满意度为9.53，体验主要由餐饮服务支撑，菜品温度、接待指引及服务品质表现稳定；硬件设施相对偏弱。</a:t>
            </a:r>
          </a:p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8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关注点：园区停车方便得分8.00，标识标牌清晰、交通到达便利及菜品地方特色也低于餐饮服务均值，需优先关注到达与现场识别体验。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291</TotalTime>
  <Words>3552</Words>
  <Application>Microsoft Macintosh PowerPoint</Application>
  <PresentationFormat>宽屏</PresentationFormat>
  <Paragraphs>1166</Paragraphs>
  <Slides>34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Impact</vt:lpstr>
      <vt:lpstr>Arial</vt:lpstr>
      <vt:lpstr>楷体</vt:lpstr>
      <vt:lpstr>Times New Roman</vt:lpstr>
      <vt:lpstr>Kaiti SC</vt:lpstr>
      <vt:lpstr>等线</vt:lpstr>
      <vt:lpstr>Calibri</vt:lpstr>
      <vt:lpstr>3_主题5</vt:lpstr>
      <vt:lpstr>think-cell 幻灯片</vt:lpstr>
      <vt:lpstr>PowerPoint 演示文稿</vt:lpstr>
      <vt:lpstr>会展客户——展览活动主（承）办</vt:lpstr>
      <vt:lpstr>会展客户——展览活动主（承）办</vt:lpstr>
      <vt:lpstr>会展客户——参展商</vt:lpstr>
      <vt:lpstr>会展客户——参展商</vt:lpstr>
      <vt:lpstr>会展客户——专业观众</vt:lpstr>
      <vt:lpstr>会展客户——专业观众</vt:lpstr>
      <vt:lpstr>会展客户——会展服务商</vt:lpstr>
      <vt:lpstr>会展客户——会展服务商</vt:lpstr>
      <vt:lpstr>会展客户——会议活动主（承）办</vt:lpstr>
      <vt:lpstr>会展客户——会议活动主（承）办</vt:lpstr>
      <vt:lpstr>会展客户——参会客户</vt:lpstr>
      <vt:lpstr>会展客户——参会客户</vt:lpstr>
      <vt:lpstr>PowerPoint 演示文稿</vt:lpstr>
      <vt:lpstr>餐饮客户——商务简餐</vt:lpstr>
      <vt:lpstr>餐饮客户——商务简餐</vt:lpstr>
      <vt:lpstr>餐饮客户——特色美食廊</vt:lpstr>
      <vt:lpstr>餐饮客户——特色美食廊</vt:lpstr>
      <vt:lpstr>PowerPoint 演示文稿</vt:lpstr>
      <vt:lpstr>G20峰会体验馆——游客</vt:lpstr>
      <vt:lpstr>G20峰会体验馆——游客</vt:lpstr>
      <vt:lpstr>G20峰会体验馆——旅行社工作人员</vt:lpstr>
      <vt:lpstr>G20峰会体验馆——旅行社工作人员</vt:lpstr>
      <vt:lpstr>PowerPoint 演示文稿</vt:lpstr>
      <vt:lpstr>酒店客户——酒店散客</vt:lpstr>
      <vt:lpstr>酒店客户——酒店散客</vt:lpstr>
      <vt:lpstr>酒店客户——酒店住宿团队</vt:lpstr>
      <vt:lpstr>酒店客户——酒店住宿团队</vt:lpstr>
      <vt:lpstr>酒店客户——酒店参会客户</vt:lpstr>
      <vt:lpstr>酒店客户——酒店参会客户</vt:lpstr>
      <vt:lpstr>酒店客户——酒店会议主（承）办</vt:lpstr>
      <vt:lpstr>酒店客户——酒店会议主（承）办</vt:lpstr>
      <vt:lpstr>酒店客户——酒店餐饮客户</vt:lpstr>
      <vt:lpstr>酒店客户——酒店餐饮客户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1467</cp:revision>
  <cp:lastPrinted>2020-04-29T16:00:00Z</cp:lastPrinted>
  <dcterms:created xsi:type="dcterms:W3CDTF">2020-04-29T16:00:00Z</dcterms:created>
  <dcterms:modified xsi:type="dcterms:W3CDTF">2026-08-05T03:36:06Z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