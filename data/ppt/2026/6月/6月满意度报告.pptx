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5" r:id="rId1"/>
  </p:sldMasterIdLst>
  <p:notesMasterIdLst>
    <p:notesMasterId r:id="rId3"/>
  </p:notesMasterIdLst>
  <p:handoutMasterIdLst>
    <p:handoutMasterId r:id="rId4"/>
  </p:handoutMasterIdLst>
  <p:sldIdLst>
    <p:sldId id="256" r:id="rId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</p:sldIdLst>
  <p:sldSz cx="12192000" cy="6858000"/>
  <p:notesSz cx="6858000" cy="9144000"/>
  <p:embeddedFontLst>
    <p:embeddedFont>
      <p:font typeface="等线" panose="02010600030101010101" pitchFamily="2" charset="-122"/>
      <p:regular r:id="rId5"/>
      <p:bold r:id="rId6"/>
    </p:embeddedFont>
  </p:embeddedFontLst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F26B43"/>
          </p15:clr>
        </p15:guide>
        <p15:guide id="3" orient="horz" pos="22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DELL" initials="D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2648"/>
    <a:srgbClr val="BB2647"/>
    <a:srgbClr val="F3E8E9"/>
    <a:srgbClr val="ECA0B1"/>
    <a:srgbClr val="F7F9FD"/>
    <a:srgbClr val="F9E9EC"/>
    <a:srgbClr val="DE9BA4"/>
    <a:srgbClr val="A40000"/>
    <a:srgbClr val="BD374A"/>
    <a:srgbClr val="EB40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20" autoAdjust="0"/>
    <p:restoredTop sz="92000" autoAdjust="0"/>
  </p:normalViewPr>
  <p:slideViewPr>
    <p:cSldViewPr snapToGrid="0" showGuides="1">
      <p:cViewPr varScale="1">
        <p:scale>
          <a:sx n="176" d="100"/>
          <a:sy n="176" d="100"/>
        </p:scale>
        <p:origin x="864" y="200"/>
      </p:cViewPr>
      <p:guideLst>
        <p:guide pos="3839"/>
        <p:guide orient="horz" pos="22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204" y="96"/>
      </p:cViewPr>
      <p:guideLst/>
    </p:cSldViewPr>
  </p:notesViewPr>
  <p:gridSpacing cx="45000" cy="45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tags" Target="tags/tag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总体判断：展览主承办满意度9.63，体验主要由会展服务9.99和配套服务9.92支撑，硬件设施9.59与智慧场馆9.00相对偏弱。</a:t>
            </a:r>
          </a:p>
          <a:p>
            <a:r>
              <a:t>亮点：销售经理、现场对接、报馆流程、撤展及展后回访等服务项均达10分，服务链条评价稳定。</a:t>
            </a:r>
          </a:p>
          <a:p>
            <a:r>
              <a:t>关注点：交通便利性、展厅使用情况均为9.33，标识标牌9.50，且硬件设施重要性高于满意度，需优先关注。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总体判断：参展商满意度9.52，体验基础主要由会场服务支撑，工作人员仪容、态度、技能均为10分，安保、保洁服务也达到10分。</a:t>
            </a:r>
          </a:p>
          <a:p>
            <a:r>
              <a:t>关注点：硬件设施9.16、配套服务9.47相对偏弱，园区停车8.26、餐饮服务8.40、标识标牌9.03是优先提升环节。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总体判断：专业观众满意度9.72，体验主要由会展服务满分表现及客房、保洁、安保等配套服务支撑。</a:t>
            </a:r>
          </a:p>
          <a:p>
            <a:r>
              <a:t>亮点：工作人员仪容仪表、服务态度和业务技能均为10分，服务接触环节稳定性较强。</a:t>
            </a:r>
          </a:p>
          <a:p>
            <a:r>
              <a:t>关注点：硬件设施相对偏弱，标识标牌、路线安排、停车便利均低于9.4；餐饮服务8.76，是优先改善环节。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总体判断：会展服务商满意度为10分，体验由会展服务、硬件设施与配套服务三类板块共同支撑，未出现相对偏弱项。</a:t>
            </a:r>
          </a:p>
          <a:p>
            <a:r>
              <a:t>亮点：现场对接、搭建报馆、工程设备、交通停车、餐饮客房及安保保洁等环节均为10分。</a:t>
            </a:r>
          </a:p>
          <a:p>
            <a:r>
              <a:t>关注点：满分结果下需关注后续批次评价稳定性，避免服务细节波动被掩盖。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总体判断：会议主承办满意度达9.83，体验主要由会展服务9.94和配套服务9.88支撑，服务协同与现场响应评价稳定。</a:t>
            </a:r>
          </a:p>
          <a:p>
            <a:r>
              <a:t>亮点：销售对接、现场协调、人员服务、茶歇及客房、安保、保洁等多项获得10分。</a:t>
            </a:r>
          </a:p>
          <a:p>
            <a:r>
              <a:t>关注点：硬件设施9.66相对偏弱，交通到达9.25、会议厅室匹配性9.5与其重要性存在差距。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总体判断：参会人员满意度9.84，体验基础主要由会展服务满分、配套服务9.87支撑，硬件设施9.64相对偏弱。</a:t>
            </a:r>
          </a:p>
          <a:p>
            <a:r>
              <a:t>亮点：工作人员服务、接待引导、茶歇、安保与保洁均为10分，服务执行稳定。</a:t>
            </a:r>
          </a:p>
          <a:p>
            <a:r>
              <a:t>关注点：园区停车9.25、标识标牌9.45、会议厅室匹配性9.47及餐饮服务9.52仍有提升空间。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总体判断：商务简餐体验主要由餐饮服务支撑，餐饮服务满意度9.97；硬件设施9.59，属于相对偏弱环节。</a:t>
            </a:r>
          </a:p>
          <a:p>
            <a:r>
              <a:t>亮点：菜品温度、供应速度、菜品卫生、工作人员服务品质及就餐区域卫生均为10分，基础服务稳定。</a:t>
            </a:r>
          </a:p>
          <a:p>
            <a:r>
              <a:t>关注点：标识标牌清晰度9.39，与其重要性9.89存在差距，需优先优化到达与识别体验。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总体判断：特色美食廊满意度9.51，体验主要由工作人员服务品质、菜肴份量和就餐区域卫生支撑，硬件设施略优于餐饮服务。</a:t>
            </a:r>
          </a:p>
          <a:p>
            <a:r>
              <a:t>关注点：菜品口味口相、菜品地方特色均为8.95，且重要性接近满分；标识标牌清晰度9.11，也属于相对偏弱环节。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总体判断：婚宴满意度9.46，体验主要由餐饮服务支撑，接待、服务态度、供应速度等环节得分突出；硬件设施为相对弱势项。</a:t>
            </a:r>
          </a:p>
          <a:p>
            <a:r>
              <a:t>关注点：园区停车方便8.00、标识标牌清晰9.09低于其他环节，菜品地方特色9.36、口味品相9.41仍有提升空间。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总体判断：自助餐满意度9.61，体验基础由硬件设施、到达便利和现场服务保障支撑，餐饮服务环节仍有提升空间。</a:t>
            </a:r>
          </a:p>
          <a:p>
            <a:r>
              <a:t>亮点：硬件设施及交通、标识均为10分，工作人员服务品质和就餐区域卫生也达到10分。</a:t>
            </a:r>
          </a:p>
          <a:p>
            <a:r>
              <a:t>关注点：菜品口味口相8.5，菜肴品种、供应速度及就餐区域温度均为9分，且重要性多为10分。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总体判断：游客满意度9.87，体验主要由旅游服务支撑，售票、卫生、仪容仪表、服务态度和讲解专业性均达10分。</a:t>
            </a:r>
          </a:p>
          <a:p>
            <a:r>
              <a:t>亮点：旅游服务二级指标9.99，核心接待与讲解环节评价稳定。</a:t>
            </a:r>
          </a:p>
          <a:p>
            <a:r>
              <a:t>关注点：硬件设施相对偏弱，尤其标识标牌清晰度9.66、交通到达便利性9.83，需优先关注到达与导览体验。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总体判断：旅行社工作人员满意度为10分，体验由旅游服务与硬件设施共同支撑，服务接待、讲解专业性、交通停车及标识均表现稳定。</a:t>
            </a:r>
          </a:p>
          <a:p>
            <a:r>
              <a:t>亮点：售票销售、环境卫生、安全服务、人员态度及设施可达性等细项均获10分，服务链条未出现明显短板。</a:t>
            </a:r>
          </a:p>
          <a:p>
            <a:r>
              <a:t>关注点：现有评分未呈现相对偏弱项，后续可结合开放反馈识别更细分的接待与协同需求。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总体判断：散客满意度达9.88，体验主要由入住服务、餐饮服务及客房设施用品等满分项支撑，服务链条评价稳定。</a:t>
            </a:r>
          </a:p>
          <a:p>
            <a:r>
              <a:t>亮点：入住登记、客房服务、离店退房及自助早餐均为10分，前后台接待与基础餐饮体验认可度高。</a:t>
            </a:r>
          </a:p>
          <a:p>
            <a:r>
              <a:t>关注点：硬件设施相对偏弱，园区停车方便仅8分，适合商务旅行9.5分，是散客体验中的主要弱势项。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总体判断：住宿团队满意度9.93，体验基础主要由入住服务满分、餐饮服务接近满分及客房相关指标高分支撑，硬件设施相对偏弱。</a:t>
            </a:r>
          </a:p>
          <a:p>
            <a:r>
              <a:t>亮点：入住登记、客房服务、离店退房、人员服务及客房设施设备、私密性均为10分，服务链条稳定性较好。</a:t>
            </a:r>
          </a:p>
          <a:p>
            <a:r>
              <a:t>关注点：标识标牌清晰度9.79且重要性为10，园区停车方便9.00，属于住宿团队到达与入住前环节的提升空间。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总体判断：酒店参会客户满意度9.72，体验主要由会展服务与智慧场馆支撑，硬件设施、配套服务相对偏弱。</a:t>
            </a:r>
          </a:p>
          <a:p>
            <a:r>
              <a:t>亮点：工作人员仪容仪表、业务技能、服务态度及接待引导均为10分，智慧场馆各项均为10分。</a:t>
            </a:r>
          </a:p>
          <a:p>
            <a:r>
              <a:t>关注点：餐饮服务8.94、茶歇服务9.29偏低；标识标牌、会议厅室匹配性与重要性存在差距，需优先关注。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总体判断：酒店会议主承办满意度9.54，体验主要由会展服务9.62、智慧场馆10支撑，销售经理、现场协调及布置搭建评价突出；硬件设施9.50相对平稳。</a:t>
            </a:r>
          </a:p>
          <a:p>
            <a:r>
              <a:t>关注点：配套服务9.04为相对偏弱板块，其中餐饮服务7.50、茶歇服务与品质8.00分值偏低，工程设施设备9.00也有提升空间。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总体判断：酒店餐饮客户满意度9.82，体验主要由餐饮服务支撑，菜品温度、供应速度、接待指引、卫生与人员服务均达10分。</a:t>
            </a:r>
          </a:p>
          <a:p>
            <a:r>
              <a:t>亮点：餐饮服务二级指标9.88，高于硬件设施，服务过程稳定性较好。</a:t>
            </a:r>
          </a:p>
          <a:p>
            <a:r>
              <a:t>关注点：菜品口味口相9.57、标识标牌清晰9.62、宴会视听设备9.67相对偏弱。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2.png"/><Relationship Id="rId6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tags" Target="../tags/tag7.xml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8255" imgH="8255" progId="TCLayout.ActiveDocument.1">
                  <p:embed/>
                </p:oleObj>
              </mc:Choice>
              <mc:Fallback>
                <p:oleObj name="think-cell 幻灯片" r:id="rId3" imgW="8255" imgH="8255" progId="TCLayout.ActiveDocument.1">
                  <p:embed/>
                  <p:pic>
                    <p:nvPicPr>
                      <p:cNvPr id="0" name="图片 205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3689103"/>
            <a:ext cx="6565901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73099" y="1120776"/>
            <a:ext cx="6565901" cy="2048122"/>
          </a:xfrm>
        </p:spPr>
        <p:txBody>
          <a:bodyPr vert="horz"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 rot="20346747">
            <a:off x="3618610" y="3906838"/>
            <a:ext cx="771417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 spc="12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73099" y="732429"/>
            <a:ext cx="10845800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12" b="431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cxnSp>
          <p:nvCxnSpPr>
            <p:cNvPr id="11" name="直接连接符 4"/>
            <p:cNvCxnSpPr/>
            <p:nvPr userDrawn="1"/>
          </p:nvCxnSpPr>
          <p:spPr>
            <a:xfrm flipV="1">
              <a:off x="0" y="2695575"/>
              <a:ext cx="1492143" cy="1466850"/>
            </a:xfrm>
            <a:prstGeom prst="line">
              <a:avLst/>
            </a:prstGeom>
            <a:ln w="22225" cap="rnd">
              <a:solidFill>
                <a:schemeClr val="bg1">
                  <a:lumMod val="85000"/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bg>
      <p:bgPr>
        <a:solidFill>
          <a:schemeClr val="bg1">
            <a:alpha val="7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3386407" y="3429000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387523" y="4324350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alphaModFix amt="5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12" b="431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形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20487" y="214181"/>
            <a:ext cx="412732" cy="6003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4949945" y="1135063"/>
            <a:ext cx="5816598" cy="3667996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949946" y="5823229"/>
            <a:ext cx="5816598" cy="314046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949948" y="5526958"/>
            <a:ext cx="5816598" cy="299297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tags" Target="../tags/tag2.xml"/><Relationship Id="rId11" Type="http://schemas.openxmlformats.org/officeDocument/2006/relationships/oleObject" Target="../embeddings/oleObject1.bin"/><Relationship Id="rId1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0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1" imgW="8255" imgH="8255" progId="TCLayout.ActiveDocument.1">
                  <p:embed/>
                </p:oleObj>
              </mc:Choice>
              <mc:Fallback>
                <p:oleObj name="think-cell 幻灯片" r:id="rId11" imgW="8255" imgH="8255" progId="TCLayout.ActiveDocument.1">
                  <p:embed/>
                  <p:pic>
                    <p:nvPicPr>
                      <p:cNvPr id="0" name="图片 102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会展类客户满意度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/02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会展客户——展览活动主（承）办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展览主承办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销售经理业务能力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撤展服务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92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设备租赁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货运通道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杭州国博APP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室内导航系统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寻车系统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云上看馆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会展客户——展览活动主（承）办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170934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总体判断：展览主承办满意度9.63，体验主要由会展服务9.99和配套服务9.92支撑，硬件设施9.59与智慧场馆9.00相对偏弱。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亮点：销售经理、现场对接、报馆流程、撤展及展后回访等服务项均达10分，服务链条评价稳定。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关注点：交通便利性、展厅使用情况均为9.33，标识标牌9.50，且硬件设施重要性高于满意度，需优先关注。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会展客户——参展商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参展商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9.52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会场服务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接待引导服务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8.26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会展客户——参展商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42310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总体判断：参展商满意度9.52，体验基础主要由会场服务支撑，工作人员仪容、态度、技能均为10分，安保、保洁服务也达到10分。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关注点：硬件设施9.16、配套服务9.47相对偏弱，园区停车8.26、餐饮服务8.40、标识标牌9.03是优先提升环节。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会展客户——专业观众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专业观众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接待引导服务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展会路线安排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会展客户——专业观众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8351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总体判断：专业观众满意度9.72，体验主要由会展服务满分表现及客房、保洁、安保等配套服务支撑。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亮点：工作人员仪容仪表、服务态度和业务技能均为10分，服务接触环节稳定性较强。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关注点：硬件设施相对偏弱，标识标牌、路线安排、停车便利均低于9.4；餐饮服务8.76，是优先改善环节。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会展客户——会展服务商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会展服务商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工程设备服务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撤展服务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园区停车便利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货运通道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快递物流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会展客户——会展服务商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170934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总体判断：会展服务商满意度为10分，体验由会展服务、硬件设施与配套服务三类板块共同支撑，未出现相对偏弱项。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亮点：现场对接、搭建报馆、工程设备、交通停车、餐饮客房及安保保洁等环节均为10分。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关注点：满分结果下需关注后续批次评价稳定性，避免服务细节波动被掩盖。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会展客户——会议活动主（承）办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会议主承办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销售经理业务能力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茶歇服务与品质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工程设施设备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撤会服务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会展客户——会议活动主（承）办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170934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总体判断：会议主承办满意度达9.83，体验主要由会展服务9.94和配套服务9.88支撑，服务协同与现场响应评价稳定。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亮点：销售对接、现场协调、人员服务、茶歇及客房、安保、保洁等多项获得10分。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关注点：硬件设施9.66相对偏弱，交通到达9.25、会议厅室匹配性9.5与其重要性存在差距。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会展客户——参会客户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参会人员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接待引导服务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参会环境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会展客户——参会客户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170934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总体判断：参会人员满意度9.84，体验基础主要由会展服务满分、配套服务9.87支撑，硬件设施9.64相对偏弱。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亮点：工作人员服务、接待引导、茶歇、安保与保洁均为10分，服务执行稳定。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关注点：园区停车9.25、标识标牌9.45、会议厅室匹配性9.47及餐饮服务9.52仍有提升空间。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餐饮类客户满意度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/03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餐饮客户——商务简餐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商务简餐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菜品分量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餐饮客户——商务简餐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8351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总体判断：商务简餐体验主要由餐饮服务支撑，餐饮服务满意度9.97；硬件设施9.59，属于相对偏弱环节。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亮点：菜品温度、供应速度、菜品卫生、工作人员服务品质及就餐区域卫生均为10分，基础服务稳定。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关注点：标识标牌清晰度9.39，与其重要性9.89存在差距，需优先优化到达与识别体验。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餐饮客户——特色美食廊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特色美食廊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9.51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菜品口味口相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菜肴份量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餐饮客户——特色美食廊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42310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总体判断：特色美食廊满意度9.51，体验主要由工作人员服务品质、菜肴份量和就餐区域卫生支撑，硬件设施略优于餐饮服务。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关注点：菜品口味口相、菜品地方特色均为8.95，且重要性接近满分；标识标牌清晰度9.11，也属于相对偏弱环节。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餐饮客户——婚宴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婚宴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婚宴茶歇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宴会视听设备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餐饮客户——婚宴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42310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总体判断：婚宴满意度9.46，体验主要由餐饮服务支撑，接待、服务态度、供应速度等环节得分突出；硬件设施为相对弱势项。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关注点：园区停车方便8.00、标识标牌清晰9.09低于其他环节，菜品地方特色9.36、口味品相9.41仍有提升空间。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餐饮客户——自助餐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自助餐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9.61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菜肴品种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菜品口味口相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餐饮客户——自助餐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170934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总体判断：自助餐满意度9.61，体验基础由硬件设施、到达便利和现场服务保障支撑，餐饮服务环节仍有提升空间。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亮点：硬件设施及交通、标识均为10分，工作人员服务品质和就餐区域卫生也达到10分。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关注点：菜品口味口相8.5，菜肴品种、供应速度及就餐区域温度均为9分，且重要性多为10分。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CN" dirty="0"/>
                <a:t>G20</a:t>
              </a:r>
              <a:r>
                <a:rPr lang="zh-CN" altLang="en-US" dirty="0"/>
                <a:t>峰会体验场馆满意度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/04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G20峰会体验馆——游客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游客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旅游服务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售票/销售服务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景点设施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环境卫生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安全服务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讲解人员专业性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G20峰会体验馆——游客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8351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总体判断：游客满意度9.87，体验主要由旅游服务支撑，售票、卫生、仪容仪表、服务态度和讲解专业性均达10分。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亮点：旅游服务二级指标9.99，核心接待与讲解环节评价稳定。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关注点：硬件设施相对偏弱，尤其标识标牌清晰度9.66、交通到达便利性9.83，需优先关注到达与导览体验。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G20峰会体验馆——旅行社工作人员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旅行社工作人员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旅游服务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售票/销售服务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景点设施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环境卫生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安全服务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讲解人员专业性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G20峰会体验馆——旅行社工作人员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170934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总体判断：旅行社工作人员满意度为10分，体验由旅游服务与硬件设施共同支撑，服务接待、讲解专业性、交通停车及标识均表现稳定。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亮点：售票销售、环境卫生、安全服务、人员态度及设施可达性等细项均获10分，服务链条未出现明显短板。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关注点：现有评分未呈现相对偏弱项，后续可结合开放反馈识别更细分的接待与协同需求。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酒店客户满意度及酒店暗访评分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/05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酒店客户——酒店散客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散客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适合商务旅行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客房整体环境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住宿用品质量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客房私密性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礼宾服务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入住登记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离店退房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自助早餐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自助晚餐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送餐服务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零点服务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酒店客户——酒店散客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170934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总体判断：散客满意度达9.88，体验主要由入住服务、餐饮服务及客房设施用品等满分项支撑，服务链条评价稳定。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亮点：入住登记、客房服务、离店退房及自助早餐均为10分，前后台接待与基础餐饮体验认可度高。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关注点：硬件设施相对偏弱，园区停车方便仅8分，适合商务旅行9.5分，是散客体验中的主要弱势项。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酒店客户——酒店住宿团队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住宿团队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适合商务旅行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客房整体环境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住宿用品质量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客房私密性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礼宾服务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入住登记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离店退房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自助早餐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自助晚餐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送餐服务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零点服务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酒店客户——酒店住宿团队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50674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总体判断：住宿团队满意度9.93，体验基础主要由入住服务满分、餐饮服务接近满分及客房相关指标高分支撑，硬件设施相对偏弱。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亮点：入住登记、客房服务、离店退房、人员服务及客房设施设备、私密性均为10分，服务链条稳定性较好。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关注点：标识标牌清晰度9.79且重要性为10，园区停车方便9.00，属于住宿团队到达与入住前环节的提升空间。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酒店客户——酒店参会客户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酒店参会客户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接待引导服务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45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参会环境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杭州国博APP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室内导航系统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寻车系统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2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云上看馆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酒店客户——酒店参会客户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8351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总体判断：酒店参会客户满意度9.72，体验主要由会展服务与智慧场馆支撑，硬件设施、配套服务相对偏弱。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亮点：工作人员仪容仪表、业务技能、服务态度及接待引导均为10分，智慧场馆各项均为10分。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关注点：餐饮服务8.94、茶歇服务9.29偏低；标识标牌、会议厅室匹配性与重要性存在差距，需优先关注。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酒店客户——酒店会议主（承）办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酒店会议主承办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9.54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销售经理业务能力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茶歇服务与品质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工程设施设备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撤会服务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杭州国博APP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室内导航系统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寻车系统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云上看馆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酒店客户——酒店会议主（承）办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7589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总体判断：酒店会议主承办满意度9.54，体验主要由会展服务9.62、智慧场馆10支撑，销售经理、现场协调及布置搭建评价突出；硬件设施9.50相对平稳。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关注点：配套服务9.04为相对偏弱板块，其中餐饮服务7.50、茶歇服务与品质8.00分值偏低，工程设施设备9.00也有提升空间。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酒店客户——酒店餐饮客户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酒店餐饮客户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菜肴品种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菜品口味口相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菜品分量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宴会视听设备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酒店客户——酒店餐饮客户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8351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总体判断：酒店餐饮客户满意度9.82，体验主要由餐饮服务支撑，菜品温度、供应速度、接待指引、卫生与人员服务均达10分。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亮点：餐饮服务二级指标9.88，高于硬件设施，服务过程稳定性较好。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关注点：菜品口味口相9.57、标识标牌清晰9.62、宴会视听设备9.67相对偏弱。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139e2a88-c592-4b5f-9711-ddb123b4f82c"/>
  <p:tag name="ISLIDE.TEMPLATE" val="#418440"/>
  <p:tag name="THINKCELLUNDODONOTDELETE" val="0"/>
  <p:tag name="COMMONDATA" val="eyJoZGlkIjoiODBlOWQwN2ZjNDU2Y2MzMGMzMjc5ZTMyYjVjMGM0YzcifQ=="/>
  <p:tag name="RESOURCE_RECORD_KEY" val="{&quot;10&quot;:[20253784],&quot;65&quot;:[20235185],&quot;70&quot;:[3322390,3322458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3_主题5">
  <a:themeElements>
    <a:clrScheme name="自定义 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B2648"/>
      </a:accent1>
      <a:accent2>
        <a:srgbClr val="26BB99"/>
      </a:accent2>
      <a:accent3>
        <a:srgbClr val="9098A6"/>
      </a:accent3>
      <a:accent4>
        <a:srgbClr val="908992"/>
      </a:accent4>
      <a:accent5>
        <a:srgbClr val="5B5E71"/>
      </a:accent5>
      <a:accent6>
        <a:srgbClr val="838584"/>
      </a:accent6>
      <a:hlink>
        <a:srgbClr val="C92523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Mila</Template>
  <TotalTime>289</TotalTime>
  <Words>7</Words>
  <Application>Microsoft Macintosh PowerPoint</Application>
  <PresentationFormat>宽屏</PresentationFormat>
  <Paragraphs>1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Calibri</vt:lpstr>
      <vt:lpstr>等线</vt:lpstr>
      <vt:lpstr>Arial</vt:lpstr>
      <vt:lpstr>3_主题5</vt:lpstr>
      <vt:lpstr>think-cell 幻灯片</vt:lpstr>
      <vt:lpstr>项目执行情况—样本收集情况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Mila</dc:creator>
  <cp:lastModifiedBy>张奇进</cp:lastModifiedBy>
  <cp:revision>1466</cp:revision>
  <cp:lastPrinted>2020-04-29T16:00:00Z</cp:lastPrinted>
  <dcterms:created xsi:type="dcterms:W3CDTF">2020-04-29T16:00:00Z</dcterms:created>
  <dcterms:modified xsi:type="dcterms:W3CDTF">2026-04-08T15:59:48Z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4244D058C3234304A8CAFD4066DC7AD4_13</vt:lpwstr>
  </property>
  <property fmtid="{D5CDD505-2E9C-101B-9397-08002B2CF9AE}" pid="4" name="KSOProductBuildVer">
    <vt:lpwstr>2052-12.1.0.25225</vt:lpwstr>
  </property>
</Properties>
</file>