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5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</p:sldIdLst>
  <p:sldSz cx="12192000" cy="6858000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F26B43"/>
          </p15:clr>
        </p15:guide>
        <p15:guide id="3" orient="horz" pos="22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DELL" initials="D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2648"/>
    <a:srgbClr val="BB2647"/>
    <a:srgbClr val="F3E8E9"/>
    <a:srgbClr val="ECA0B1"/>
    <a:srgbClr val="F7F9FD"/>
    <a:srgbClr val="F9E9EC"/>
    <a:srgbClr val="DE9BA4"/>
    <a:srgbClr val="A40000"/>
    <a:srgbClr val="BD374A"/>
    <a:srgbClr val="EB40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20" autoAdjust="0"/>
    <p:restoredTop sz="92000" autoAdjust="0"/>
  </p:normalViewPr>
  <p:slideViewPr>
    <p:cSldViewPr snapToGrid="0" showGuides="1">
      <p:cViewPr varScale="1">
        <p:scale>
          <a:sx n="176" d="100"/>
          <a:sy n="176" d="100"/>
        </p:scale>
        <p:origin x="864" y="200"/>
      </p:cViewPr>
      <p:guideLst>
        <p:guide pos="3839"/>
        <p:guide orient="horz" pos="22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tags" Target="tags/tag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总体判断：展览主承办满意度9.4，体验主要由销售服务、安保保洁及展厅使用支撑，硬件设施相对偏弱，餐饮与交通到达便利性为主要弱势项。</a:t>
            </a:r>
          </a:p>
          <a:p>
            <a:r>
              <a:t>关注点：餐饮服务8.4、交通到达便利性8.57为最低分项；现场对接服务效率9.0、重要性9.86，现场协同与响应亦有提升空间。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总体判断：参展商体验以会场服务（9.86分）和参展环境（9.85分）为基础，配套服务、智慧场馆相对偏弱，总体满意度为9.59分。</a:t>
            </a:r>
          </a:p>
          <a:p>
            <a:r>
              <a:t>关注点：餐饮服务仅8.48分，低于重要性0.85分，应优先改善；交通到达便利性9.43分，低于重要性0.38分，仍有提升空间。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总体判断：专业观众满意度9.7分，会展服务与硬件设施支撑体验，配套服务相对偏弱。</a:t>
            </a:r>
          </a:p>
          <a:p>
            <a:r>
              <a:t>亮点：会展服务各项均获10分，人员服务与接待引导形成集中优势。</a:t>
            </a:r>
          </a:p>
          <a:p>
            <a:r>
              <a:t>关注点：餐饮服务8.5分，低于重要性1分；标识标牌9.17分、路线安排9.4分，重要性均为10分，餐饮与导向体验应优先关注。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总体判断：会展服务商体验以会展服务、硬件设施为支撑，配套服务相对偏弱（9.44分）。</a:t>
            </a:r>
          </a:p>
          <a:p>
            <a:r>
              <a:t>亮点：现场布置与搭建、在线服务渠道满意度与重要性均为10分。</a:t>
            </a:r>
          </a:p>
          <a:p>
            <a:r>
              <a:t>关注点：餐饮服务8.33分，为最低项；现场对接服务效率、整体协调和配合均为9.5分，低于重要性10分。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总体判断：会议主承办满意度9.85分，体验主要依托会展服务，硬件设施相对偏弱。</a:t>
            </a:r>
          </a:p>
          <a:p>
            <a:r>
              <a:t>亮点：会展服务9.98分，现场协调、服务效率及响应及时性均为10分。</a:t>
            </a:r>
          </a:p>
          <a:p>
            <a:r>
              <a:t>关注点：交通便利性与餐饮均为9.33分；交通便利性重要性达10分，是优先改善项。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总体判断：商务简餐以满分餐饮服务奠定体验基础，总体满意度9.69分；硬件设施9.38分，仍有提升空间。</a:t>
            </a:r>
          </a:p>
          <a:p>
            <a:r>
              <a:t>亮点：供应速度、菜品卫生及工作人员服务品质的满意度与重要性均为10分。</a:t>
            </a:r>
          </a:p>
          <a:p>
            <a:r>
              <a:t>关注点：停车便利性满意度9.25分，较重要性低0.75分，是硬件设施中评分最低、差距最大的环节，宜优先关注。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总体判断：特色美食廊的智慧场馆和人员服务构成体验优势，总体满意度9.92分；菜品口味品相、标识清晰度相对偏弱。</a:t>
            </a:r>
          </a:p>
          <a:p>
            <a:r>
              <a:t>亮点：智慧场馆及工作人员服务品质均获满分。</a:t>
            </a:r>
          </a:p>
          <a:p>
            <a:r>
              <a:t>关注点：菜品口味品相9.63分，较重要性低0.25分，宜优先关注；标识清晰度9.73分，仍有提升空间。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总体判断：自助餐满意度9.68分，供餐、接待与就餐环境支撑体验，菜肴特色及品种相对偏弱。</a:t>
            </a:r>
          </a:p>
          <a:p>
            <a:r>
              <a:t>亮点：菜品供应速度、接待指引及就餐区域温度、卫生均获满分。</a:t>
            </a:r>
          </a:p>
          <a:p>
            <a:r>
              <a:t>关注点：菜肴品种满意度较重要性低1分，地方特色8.94分为最低分项，菜品丰富度与特色是主要提升方向。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总体判断：宴会体验由餐饮服务、人员接待及硬件设施共同支撑，总体满意度9.98分；供餐速度与标识清晰度相对偏弱。</a:t>
            </a:r>
          </a:p>
          <a:p>
            <a:r>
              <a:t>亮点：菜品温度、口味品相、工作人员服务品质及宴会视听设备均获10分，核心服务环节评价突出。</a:t>
            </a:r>
          </a:p>
          <a:p>
            <a:r>
              <a:t>关注点：供餐速度与标识清晰度均为9.91分，可作为精细化提升的切入点。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总体判断：游客体验以硬件设施10分、旅游服务9.95分为基础，总体满意度9.32分，智慧服务相对偏弱，仍有提升空间。</a:t>
            </a:r>
          </a:p>
          <a:p>
            <a:r>
              <a:t>关注点：自助售卖满意度8分，低于其重要性1分，是游客体验的优先改善环节；安全服务9.67分，较其重要性低0.33分，可列为次级关注项。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总体判断：旅行社工作人员的体验优势集中于旅游服务和智慧服务，均获10分；硬件设施9.67分，相对偏弱。</a:t>
            </a:r>
          </a:p>
          <a:p>
            <a:r>
              <a:t>亮点：总体满意度9.89分，服务态度、讲解专业性及交通停车均获10分。</a:t>
            </a:r>
          </a:p>
          <a:p>
            <a:r>
              <a:t>关注点：标识标牌清晰度9分、重要性10分，是硬件设施中需优先改善的环节。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总体判断：散客满意度9.6分，体验优势集中在餐饮服务，硬件设施提供支撑，入住服务相对偏弱。</a:t>
            </a:r>
          </a:p>
          <a:p>
            <a:r>
              <a:t>亮点：餐饮服务9.88分，自助晚餐、送餐服务均获10分。</a:t>
            </a:r>
          </a:p>
          <a:p>
            <a:r>
              <a:t>关注点：入住登记仅8分，低于重要性1.5分，宜优先优化办理环节；交通便利、住宿用品质量均为9分，仍有提升空间。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总体判断：酒店会议主承办满意度9.93分，会展服务与配套服务构成体验支撑，工程设施设备和休息空间相对偏弱。</a:t>
            </a:r>
          </a:p>
          <a:p>
            <a:r>
              <a:t>亮点：销售经理服务、现场协调及安保、保洁均获10分。</a:t>
            </a:r>
          </a:p>
          <a:p>
            <a:r>
              <a:t>关注点：工程设施设备满意度9分，低于重要性10分，宜优先核查客户对设备的具体改进需求。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总体判断：酒店餐饮客户的体验基础由餐饮服务支撑（9.72分），总体满意度9.49分；硬件设施9.25分，相对偏弱。</a:t>
            </a:r>
          </a:p>
          <a:p>
            <a:r>
              <a:t>关注点：交通便利性8.5分、菜品地方特色9分，是优先提升环节；两项重要性分别为9.75分、10分，与满意度差距较为明显。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8255" imgH="8255" progId="TCLayout.ActiveDocument.1">
                  <p:embed/>
                </p:oleObj>
              </mc:Choice>
              <mc:Fallback>
                <p:oleObj name="think-cell 幻灯片" r:id="rId3" imgW="8255" imgH="8255" progId="TCLayout.ActiveDocument.1">
                  <p:embed/>
                  <p:pic>
                    <p:nvPicPr>
                      <p:cNvPr id="0" name="图片 205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669925" y="3689103"/>
            <a:ext cx="6565901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673099" y="1120776"/>
            <a:ext cx="6565901" cy="2048122"/>
          </a:xfrm>
        </p:spPr>
        <p:txBody>
          <a:bodyPr vert="horz"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 rot="20346747">
            <a:off x="3618610" y="3906838"/>
            <a:ext cx="771417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 spc="12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3099" y="732429"/>
            <a:ext cx="10845800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12" b="431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cxnSp>
          <p:nvCxnSpPr>
            <p:cNvPr id="11" name="直接连接符 4"/>
            <p:cNvCxnSpPr/>
            <p:nvPr userDrawn="1"/>
          </p:nvCxnSpPr>
          <p:spPr>
            <a:xfrm flipV="1">
              <a:off x="0" y="2695575"/>
              <a:ext cx="1492143" cy="1466850"/>
            </a:xfrm>
            <a:prstGeom prst="line">
              <a:avLst/>
            </a:prstGeom>
            <a:ln w="22225" cap="rnd">
              <a:solidFill>
                <a:schemeClr val="bg1">
                  <a:lumMod val="85000"/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bg>
      <p:bgPr>
        <a:solidFill>
          <a:schemeClr val="bg1">
            <a:alpha val="7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7" y="342900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7523" y="432435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alphaModFix amt="5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12" b="431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形 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0487" y="214181"/>
            <a:ext cx="412732" cy="6003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4949945" y="1135063"/>
            <a:ext cx="5816598" cy="3667996"/>
          </a:xfr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949946" y="5823229"/>
            <a:ext cx="5816598" cy="314046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49948" y="5526958"/>
            <a:ext cx="5816598" cy="299297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0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8255" imgH="8255" progId="TCLayout.ActiveDocument.1">
                  <p:embed/>
                </p:oleObj>
              </mc:Choice>
              <mc:Fallback>
                <p:oleObj name="think-cell 幻灯片" r:id="rId11" imgW="8255" imgH="8255" progId="TCLayout.ActiveDocument.1">
                  <p:embed/>
                  <p:pic>
                    <p:nvPicPr>
                      <p:cNvPr id="0" name="图片 102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会展类客户满意度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/02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展览主承办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设备租赁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总体判断：展览主承办满意度9.4，体验主要由销售服务、安保保洁及展厅使用支撑，硬件设施相对偏弱，餐饮与交通到达便利性为主要弱势项。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关注点：餐饮服务8.4、交通到达便利性8.57为最低分项；现场对接服务效率9.0、重要性9.86，现场协同与响应亦有提升空间。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会场服务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8.48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1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寻车系统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642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云上看馆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总体判断：参展商体验以会场服务（9.86分）和参展环境（9.85分）为基础，配套服务、智慧场馆相对偏弱，总体满意度为9.59分。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关注点：餐饮服务仅8.48分，低于重要性0.85分，应优先改善；交通到达便利性9.43分，低于重要性0.38分，仍有提升空间。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专业观众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接待引导服务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展会路线安排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展厅使用情况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参展环境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总体判断：专业观众满意度9.7分，会展服务与硬件设施支撑体验，配套服务相对偏弱。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亮点：会展服务各项均获10分，人员服务与接待引导形成集中优势。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关注点：餐饮服务8.5分，低于重要性1分；标识标牌9.17分、路线安排9.4分，重要性均为10分，餐饮与导向体验应优先关注。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会展服务商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在线服务渠道便捷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工程设备服务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撤展服务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展后回访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园区停车便利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货运通道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快递物流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9.44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会展客户——会展服务商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总体判断：会展服务商体验以会展服务、硬件设施为支撑，配套服务相对偏弱（9.44分）。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亮点：现场布置与搭建、在线服务渠道满意度与重要性均为10分。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关注点：餐饮服务8.33分，为最低项；现场对接服务效率、整体协调和配合均为9.5分，低于重要性10分。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9.85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茶歇服务与品质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总体判断：会议主承办满意度9.85分，体验主要依托会展服务，硬件设施相对偏弱。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亮点：会展服务9.98分，现场协调、服务效率及响应及时性均为10分。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关注点：交通便利性与餐饮均为9.33分；交通便利性重要性达10分，是优先改善项。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餐饮类客户满意度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/03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商务简餐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菜品分量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总体判断：商务简餐以满分餐饮服务奠定体验基础，总体满意度9.69分；硬件设施9.38分，仍有提升空间。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亮点：供应速度、菜品卫生及工作人员服务品质的满意度与重要性均为10分。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关注点：停车便利性满意度9.25分，较重要性低0.75分，是硬件设施中评分最低、差距最大的环节，宜优先关注。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特色美食廊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9.82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菜肴份量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智慧场馆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杭州国博APP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室内导航系统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餐饮客户——特色美食廊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总体判断：特色美食廊的智慧场馆和人员服务构成体验优势，总体满意度9.92分；菜品口味品相、标识清晰度相对偏弱。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亮点：智慧场馆及工作人员服务品质均获满分。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关注点：菜品口味品相9.63分，较重要性低0.25分，宜优先关注；标识清晰度9.73分，仍有提升空间。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自助餐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9.63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9.94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9.56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总体判断：自助餐满意度9.68分，供餐、接待与就餐环境支撑体验，菜肴特色及品种相对偏弱。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亮点：菜品供应速度、接待指引及就餐区域温度、卫生均获满分。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关注点：菜肴品种满意度较重要性低1分，地方特色8.94分为最低分项，菜品丰富度与特色是主要提升方向。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宴会视听设备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170934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总体判断：宴会体验由餐饮服务、人员接待及硬件设施共同支撑，总体满意度9.98分；供餐速度与标识清晰度相对偏弱。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亮点：菜品温度、口味品相、工作人员服务品质及宴会视听设备均获10分，核心服务环节评价突出。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关注点：供餐速度与标识清晰度均为9.91分，可作为精细化提升的切入点。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CN" dirty="0"/>
                <a:t>G20</a:t>
              </a:r>
              <a:r>
                <a:rPr lang="zh-CN" altLang="en-US" dirty="0"/>
                <a:t>峰会体验场馆满意度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/04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游客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9.32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自助售卖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G20峰会体验馆——游客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总体判断：游客体验以硬件设施10分、旅游服务9.95分为基础，总体满意度9.32分，智慧服务相对偏弱，仍有提升空间。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关注点：自助售卖满意度8分，低于其重要性1分，是游客体验的优先改善环节；安全服务9.67分，较其重要性低0.33分，可列为次级关注项。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旅行社工作人员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9.84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旅游服务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售票/销售服务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景点设施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环境卫生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安全服务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讲解人员专业性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园区停车方便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智慧服务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语音导览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自助售卖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线上商城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G20峰会体验馆——旅行社工作人员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993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总体判断：旅行社工作人员的体验优势集中于旅游服务和智慧服务，均获10分；硬件设施9.67分，相对偏弱。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亮点：总体满意度9.89分，服务态度、讲解专业性及交通停车均获10分。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关注点：标识标牌清晰度9分、重要性10分，是硬件设施中需优先改善的环节。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酒店客户满意度及酒店暗访评分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/05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散客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适合商务旅行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客房整体环境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住宿用品质量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客房私密性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礼宾服务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入住登记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客房服务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离店退房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自助早餐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自助晚餐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送餐服务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零点服务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酒店客户——酒店散客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总体判断：散客满意度9.6分，体验优势集中在餐饮服务，硬件设施提供支撑，入住服务相对偏弱。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亮点：餐饮服务9.88分，自助晚餐、送餐服务均获10分。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关注点：入住登记仅8分，低于重要性1.5分，宜优先优化办理环节；交通便利、住宿用品质量均为9分，仍有提升空间。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酒店会议主承办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9.91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会展服务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9.93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销售经理业务能力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现场对接协调沟通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现场对接服务效率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工作人员仪容仪表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工作人员服务态度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工作人员业务技能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现场布置与搭建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报馆流程及服务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工程设施设备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撤会服务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会后回访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37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整体协调和配合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0045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服务响应及时性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737360"/>
          <a:ext cx="5285232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9.86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会议厅室匹配性，方便性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设施设备齐全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休息空间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AV效果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交通流线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配套服务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安保服务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保洁服务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酒店客户——酒店会议主（承）办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83512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总体判断：酒店会议主承办满意度9.93分，会展服务与配套服务构成体验支撑，工程设施设备和休息空间相对偏弱。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亮点：销售经理服务、现场协调及安保、保洁均获10分。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关注点：工程设施设备满意度9分，低于重要性10分，宜优先核查客户对设备的具体改进需求。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143000"/>
          <a:ext cx="1085392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酒店餐饮客户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9.49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9.57</a:t>
                      </a:r>
                    </a:p>
                  </a:txBody>
                  <a:tcPr anchor="ctr" marL="50800" marR="50800" marT="12700" marB="127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737360"/>
          <a:ext cx="10853928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指标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满意度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FFFFFF"/>
                          </a:solidFill>
                          <a:latin typeface="楷体"/>
                          <a:ea typeface="楷体"/>
                          <a:cs typeface="楷体"/>
                        </a:rPr>
                        <a:t>重要性</a:t>
                      </a:r>
                    </a:p>
                  </a:txBody>
                  <a:tcPr anchor="ctr" marL="50800" marR="50800" marT="12700" marB="127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餐饮服务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9.72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菜肴品种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菜品供应速度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菜品口味品相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菜品地方特色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接待指引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就餐区域温度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就餐区域卫生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工作人员服务品质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硬件设施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9.25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9.38</a:t>
                      </a:r>
                    </a:p>
                  </a:txBody>
                  <a:tcPr anchor="ctr" marL="50800" marR="50800" marT="12700" marB="127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76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标识标牌清晰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9288"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楷体"/>
                          <a:ea typeface="楷体"/>
                          <a:cs typeface="楷体"/>
                        </a:rPr>
                        <a:t>交通便利，容易到达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500" lang="zh-CN">
                          <a:solidFill>
                            <a:srgbClr val="4D5874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9.75</a:t>
                      </a:r>
                    </a:p>
                  </a:txBody>
                  <a:tcPr anchor="ctr" marL="50800" marR="50800" marT="12700" marB="127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3423107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总体判断：酒店餐饮客户的体验基础由餐饮服务支撑（9.72分），总体满意度9.49分；硬件设施9.25分，相对偏弱。</a:t>
            </a:r>
          </a:p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8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关注点：交通便利性8.5分、菜品地方特色9分，是优先提升环节；两项重要性分别为9.75分、10分，与满意度差距较为明显。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139e2a88-c592-4b5f-9711-ddb123b4f82c"/>
  <p:tag name="ISLIDE.TEMPLATE" val="#418440"/>
  <p:tag name="THINKCELLUNDODONOTDELETE" val="0"/>
  <p:tag name="COMMONDATA" val="eyJoZGlkIjoiODBlOWQwN2ZjNDU2Y2MzMGMzMjc5ZTMyYjVjMGM0YzcifQ=="/>
  <p:tag name="RESOURCE_RECORD_KEY" val="{&quot;10&quot;:[20253784],&quot;65&quot;:[20235185],&quot;70&quot;:[3322390,3322458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3_主题5">
  <a:themeElements>
    <a:clrScheme name="自定义 1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B2648"/>
      </a:accent1>
      <a:accent2>
        <a:srgbClr val="26BB99"/>
      </a:accent2>
      <a:accent3>
        <a:srgbClr val="9098A6"/>
      </a:accent3>
      <a:accent4>
        <a:srgbClr val="908992"/>
      </a:accent4>
      <a:accent5>
        <a:srgbClr val="5B5E71"/>
      </a:accent5>
      <a:accent6>
        <a:srgbClr val="838584"/>
      </a:accent6>
      <a:hlink>
        <a:srgbClr val="C92523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Mila</Template>
  <TotalTime>289</TotalTime>
  <Words>7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Calibri</vt:lpstr>
      <vt:lpstr>等线</vt:lpstr>
      <vt:lpstr>Arial</vt:lpstr>
      <vt:lpstr>3_主题5</vt:lpstr>
      <vt:lpstr>think-cell 幻灯片</vt:lpstr>
      <vt:lpstr>项目执行情况—样本收集情况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Mila</dc:creator>
  <cp:lastModifiedBy>张奇进</cp:lastModifiedBy>
  <cp:revision>1466</cp:revision>
  <cp:lastPrinted>2020-04-29T16:00:00Z</cp:lastPrinted>
  <dcterms:created xsi:type="dcterms:W3CDTF">2020-04-29T16:00:00Z</dcterms:created>
  <dcterms:modified xsi:type="dcterms:W3CDTF">2026-04-08T15:59:48Z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CV">
    <vt:lpwstr>4244D058C3234304A8CAFD4066DC7AD4_13</vt:lpwstr>
  </property>
  <property fmtid="{D5CDD505-2E9C-101B-9397-08002B2CF9AE}" pid="4" name="KSOProductBuildVer">
    <vt:lpwstr>2052-12.1.0.25225</vt:lpwstr>
  </property>
</Properties>
</file>