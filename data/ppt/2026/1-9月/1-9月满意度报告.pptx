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65" r:id="rId1"/>
  </p:sldMasterIdLst>
  <p:notesMasterIdLst>
    <p:notesMasterId r:id="rId3"/>
  </p:notesMasterIdLst>
  <p:handoutMasterIdLst>
    <p:handoutMasterId r:id="rId4"/>
  </p:handoutMasterIdLst>
  <p:sldIdLst>
    <p:sldId id="256" r:id="rId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291" r:id="rId47"/>
    <p:sldId id="292" r:id="rId48"/>
    <p:sldId id="293" r:id="rId49"/>
    <p:sldId id="294" r:id="rId50"/>
    <p:sldId id="295" r:id="rId51"/>
  </p:sldIdLst>
  <p:sldSz cx="12192000" cy="6858000"/>
  <p:notesSz cx="6858000" cy="9144000"/>
  <p:embeddedFontLst>
    <p:embeddedFont>
      <p:font typeface="等线" panose="02010600030101010101" pitchFamily="2" charset="-122"/>
      <p:regular r:id="rId5"/>
      <p:bold r:id="rId6"/>
    </p:embeddedFont>
  </p:embeddedFontLst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F26B43"/>
          </p15:clr>
        </p15:guide>
        <p15:guide id="3" orient="horz" pos="222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483810881" name="WPS_1679281038" initials="W" lastIdx="1" clrIdx="2"/>
  <p:cmAuthor id="1" name="DELL" initials="D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B2648"/>
    <a:srgbClr val="BB2647"/>
    <a:srgbClr val="F3E8E9"/>
    <a:srgbClr val="ECA0B1"/>
    <a:srgbClr val="F7F9FD"/>
    <a:srgbClr val="F9E9EC"/>
    <a:srgbClr val="DE9BA4"/>
    <a:srgbClr val="A40000"/>
    <a:srgbClr val="BD374A"/>
    <a:srgbClr val="EB40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20" autoAdjust="0"/>
    <p:restoredTop sz="92000" autoAdjust="0"/>
  </p:normalViewPr>
  <p:slideViewPr>
    <p:cSldViewPr snapToGrid="0" showGuides="1">
      <p:cViewPr varScale="1">
        <p:scale>
          <a:sx n="176" d="100"/>
          <a:sy n="176" d="100"/>
        </p:scale>
        <p:origin x="864" y="200"/>
      </p:cViewPr>
      <p:guideLst>
        <p:guide pos="3839"/>
        <p:guide orient="horz" pos="222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3204" y="96"/>
      </p:cViewPr>
      <p:guideLst/>
    </p:cSldViewPr>
  </p:notesViewPr>
  <p:gridSpacing cx="45000" cy="45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handoutMaster" Target="handoutMasters/handoutMaster1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tags" Target="tags/tag1.xml"/><Relationship Id="rId8" Type="http://schemas.openxmlformats.org/officeDocument/2006/relationships/commentAuthors" Target="commentAuthors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Relationship Id="rId44" Type="http://schemas.openxmlformats.org/officeDocument/2006/relationships/slide" Target="slides/slide33.xml"/><Relationship Id="rId45" Type="http://schemas.openxmlformats.org/officeDocument/2006/relationships/slide" Target="slides/slide34.xml"/><Relationship Id="rId46" Type="http://schemas.openxmlformats.org/officeDocument/2006/relationships/slide" Target="slides/slide35.xml"/><Relationship Id="rId47" Type="http://schemas.openxmlformats.org/officeDocument/2006/relationships/slide" Target="slides/slide36.xml"/><Relationship Id="rId48" Type="http://schemas.openxmlformats.org/officeDocument/2006/relationships/slide" Target="slides/slide37.xml"/><Relationship Id="rId49" Type="http://schemas.openxmlformats.org/officeDocument/2006/relationships/slide" Target="slides/slide38.xml"/><Relationship Id="rId50" Type="http://schemas.openxmlformats.org/officeDocument/2006/relationships/slide" Target="slides/slide39.xml"/><Relationship Id="rId51" Type="http://schemas.openxmlformats.org/officeDocument/2006/relationships/slide" Target="slides/slide40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78E0E4-DC06-4041-AFA7-BB6F527FFA3F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B7432-8BB0-4EFA-A417-EFCDC17B28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Relationship Id="rId5" Type="http://schemas.openxmlformats.org/officeDocument/2006/relationships/image" Target="../media/image2.png"/><Relationship Id="rId6" Type="http://schemas.microsoft.com/office/2007/relationships/hdphoto" Target="../media/hdphoto1.wdp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tags" Target="../tags/tag6.xml"/><Relationship Id="rId4" Type="http://schemas.openxmlformats.org/officeDocument/2006/relationships/tags" Target="../tags/tag7.xml"/><Relationship Id="rId5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8255" imgH="8255" progId="TCLayout.ActiveDocument.1">
                  <p:embed/>
                </p:oleObj>
              </mc:Choice>
              <mc:Fallback>
                <p:oleObj name="think-cell 幻灯片" r:id="rId3" imgW="8255" imgH="8255" progId="TCLayout.ActiveDocument.1">
                  <p:embed/>
                  <p:pic>
                    <p:nvPicPr>
                      <p:cNvPr id="0" name="图片 205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01" name="副标题 2"/>
          <p:cNvSpPr>
            <a:spLocks noGrp="1"/>
          </p:cNvSpPr>
          <p:nvPr userDrawn="1">
            <p:ph type="subTitle" idx="1"/>
          </p:nvPr>
        </p:nvSpPr>
        <p:spPr>
          <a:xfrm>
            <a:off x="669925" y="3689103"/>
            <a:ext cx="6565901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标题 1"/>
          <p:cNvSpPr>
            <a:spLocks noGrp="1"/>
          </p:cNvSpPr>
          <p:nvPr userDrawn="1">
            <p:ph type="ctrTitle"/>
          </p:nvPr>
        </p:nvSpPr>
        <p:spPr>
          <a:xfrm>
            <a:off x="673099" y="1120776"/>
            <a:ext cx="6565901" cy="2048122"/>
          </a:xfrm>
        </p:spPr>
        <p:txBody>
          <a:bodyPr vert="horz" anchor="b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 rot="20346747">
            <a:off x="3618610" y="3906838"/>
            <a:ext cx="7714175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 spc="12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文本占位符 13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673099" y="732429"/>
            <a:ext cx="10845800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10" name="图片 9"/>
            <p:cNvPicPr>
              <a:picLocks noChangeAspect="1"/>
            </p:cNvPicPr>
            <p:nvPr userDrawn="1"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-8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312" b="431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cxnSp>
          <p:nvCxnSpPr>
            <p:cNvPr id="11" name="直接连接符 4"/>
            <p:cNvCxnSpPr/>
            <p:nvPr userDrawn="1"/>
          </p:nvCxnSpPr>
          <p:spPr>
            <a:xfrm flipV="1">
              <a:off x="0" y="2695575"/>
              <a:ext cx="1492143" cy="1466850"/>
            </a:xfrm>
            <a:prstGeom prst="line">
              <a:avLst/>
            </a:prstGeom>
            <a:ln w="22225" cap="rnd">
              <a:solidFill>
                <a:schemeClr val="bg1">
                  <a:lumMod val="85000"/>
                  <a:alpha val="5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节标题">
    <p:bg>
      <p:bgPr>
        <a:solidFill>
          <a:schemeClr val="bg1">
            <a:alpha val="7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标题 1"/>
          <p:cNvSpPr>
            <a:spLocks noGrp="1"/>
          </p:cNvSpPr>
          <p:nvPr userDrawn="1">
            <p:ph type="title"/>
          </p:nvPr>
        </p:nvSpPr>
        <p:spPr>
          <a:xfrm>
            <a:off x="3386407" y="3429000"/>
            <a:ext cx="541918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3387523" y="4324350"/>
            <a:ext cx="541918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alphaModFix amt="54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312" b="4312"/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形 5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20487" y="214181"/>
            <a:ext cx="412732" cy="60033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4949945" y="1135063"/>
            <a:ext cx="5816598" cy="3667996"/>
          </a:xfrm>
        </p:spPr>
        <p:txBody>
          <a:bodyPr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5" name="文本占位符 62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949946" y="5823229"/>
            <a:ext cx="5816598" cy="314046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en-US" altLang="zh-CN" dirty="0"/>
              <a:t>Data</a:t>
            </a:r>
          </a:p>
        </p:txBody>
      </p:sp>
      <p:sp>
        <p:nvSpPr>
          <p:cNvPr id="6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4949948" y="5526958"/>
            <a:ext cx="5816598" cy="299297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Relationship Id="rId10" Type="http://schemas.openxmlformats.org/officeDocument/2006/relationships/tags" Target="../tags/tag2.xml"/><Relationship Id="rId11" Type="http://schemas.openxmlformats.org/officeDocument/2006/relationships/oleObject" Target="../embeddings/oleObject1.bin"/><Relationship Id="rId1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/>
          <p:cNvGraphicFramePr>
            <a:graphicFrameLocks noChangeAspect="1"/>
          </p:cNvGraphicFramePr>
          <p:nvPr userDrawn="1">
            <p:custDataLst>
              <p:tags r:id="rId10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1" imgW="8255" imgH="8255" progId="TCLayout.ActiveDocument.1">
                  <p:embed/>
                </p:oleObj>
              </mc:Choice>
              <mc:Fallback>
                <p:oleObj name="think-cell 幻灯片" r:id="rId11" imgW="8255" imgH="8255" progId="TCLayout.ActiveDocument.1">
                  <p:embed/>
                  <p:pic>
                    <p:nvPicPr>
                      <p:cNvPr id="0" name="图片 102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9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0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组合 2"/>
          <p:cNvGrpSpPr/>
          <p:nvPr/>
        </p:nvGrpSpPr>
        <p:grpSpPr>
          <a:xfrm>
            <a:off x="6470613" y="2315714"/>
            <a:ext cx="5420301" cy="2680440"/>
            <a:chOff x="6470613" y="2315714"/>
            <a:chExt cx="5420301" cy="2680440"/>
          </a:xfrm>
        </p:grpSpPr>
        <p:sp>
          <p:nvSpPr>
            <p:cNvPr id="3" name="标题 4"/>
            <p:cNvSpPr txBox="1"/>
            <p:nvPr/>
          </p:nvSpPr>
          <p:spPr>
            <a:xfrm>
              <a:off x="6471729" y="4100804"/>
              <a:ext cx="5419185" cy="89535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dirty="0"/>
                <a:t>会展类客户满意度</a:t>
              </a:r>
            </a:p>
          </p:txBody>
        </p:sp>
        <p:sp>
          <p:nvSpPr>
            <p:cNvPr id="4" name="文本框 7"/>
            <p:cNvSpPr txBox="1"/>
            <p:nvPr/>
          </p:nvSpPr>
          <p:spPr>
            <a:xfrm>
              <a:off x="6470613" y="2315714"/>
              <a:ext cx="2053096" cy="1785090"/>
            </a:xfrm>
            <a:prstGeom prst="rect">
              <a:avLst/>
            </a:prstGeom>
            <a:noFill/>
            <a:ln w="117475">
              <a:noFill/>
            </a:ln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r>
                <a:rPr lang="en-US" altLang="zh-CN" spc="100" dirty="0">
                  <a:solidFill>
                    <a:schemeClr val="bg1"/>
                  </a:solidFill>
                  <a:latin typeface="Impact" panose="020B0806030902050204" pitchFamily="34" charset="0"/>
                  <a:cs typeface="Arial" panose="020B0604020202020204" pitchFamily="34" charset="0"/>
                </a:rPr>
                <a:t>/02</a:t>
              </a:r>
              <a:endParaRPr lang="zh-CN" altLang="en-US" spc="100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会展客户——展览活动主（承）办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展览主承办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9.59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销售经理服务态度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销售经理业务能力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现场对接协调沟通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现场对接服务效率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报馆流程及服务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现场布置与搭建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在线服务渠道便捷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撤展服务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展后回访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整体协调和配合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服务响应及时性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92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设备租赁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交通流线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货运通道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展厅使用情况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智慧场馆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9.31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杭州国博APP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室内导航系统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寻车系统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8.89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云上看馆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会展客户——展览活动主（承）办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166784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图表分析内容待补充。后续将在此处补充该客户分组二级指标的整体解读、优势项与待提升项。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会展客户——参展商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参展商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9.61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会场服务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现场布置与搭建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接待引导服务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展厅使用情况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参展环境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9.06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智慧场馆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9.42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9.43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杭州国博APP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室内导航系统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8.33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寻车系统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2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云上看馆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会展客户——参展商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166784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图表分析内容待补充。后续将在此处补充该客户分组二级指标的整体解读、优势项与待提升项。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会展客户——专业观众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专业观众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9.69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接待引导服务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9.44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9.86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展会路线安排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9.09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展厅使用情况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参展环境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9.63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9.86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9.01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会展客户——专业观众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166784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图表分析内容待补充。后续将在此处补充该客户分组二级指标的整体解读、优势项与待提升项。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会展客户——会展服务商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会展服务商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现场对接协调沟通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现场对接服务效率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现场布置与搭建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报馆流程及服务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在线服务渠道便捷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工程设备服务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整体协调和配合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服务响应及时性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撤展服务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展后回访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9.81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交通流线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园区停车便利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货运通道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快递物流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休息空间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9.86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智慧场馆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9.84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8.65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室内导航系统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杭州国博APP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8.32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会展客户——会展服务商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166784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图表分析内容待补充。后续将在此处补充该客户分组二级指标的整体解读、优势项与待提升项。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会展客户——会议活动主（承）办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会议主承办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9.69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9.78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销售经理服务态度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销售经理业务能力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现场对接协调沟通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现场对接服务效率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现场布置与搭建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茶歇服务与品质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在线服务渠道便捷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报馆流程及服务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工程设施设备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撤会服务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会后回访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整体协调和配合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服务响应及时性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会议厅室匹配性，方便性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休息空间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AV效果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交通流线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9.74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9.09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智慧场馆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8.75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杭州国博APP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室内导航系统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寻车系统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云上看馆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会展客户——会议活动主（承）办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166784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图表分析内容待补充。后续将在此处补充该客户分组二级指标的整体解读、优势项与待提升项。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会展客户——参会客户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参会人员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9.79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接待引导服务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茶歇服务品质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会议厅室匹配性，方便性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休息空间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8.86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AV效果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参会环境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9.82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会展客户——参会客户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166784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图表分析内容待补充。后续将在此处补充该客户分组二级指标的整体解读、优势项与待提升项。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组合 2"/>
          <p:cNvGrpSpPr/>
          <p:nvPr/>
        </p:nvGrpSpPr>
        <p:grpSpPr>
          <a:xfrm>
            <a:off x="6470613" y="2315714"/>
            <a:ext cx="5420301" cy="2680440"/>
            <a:chOff x="6470613" y="2315714"/>
            <a:chExt cx="5420301" cy="2680440"/>
          </a:xfrm>
        </p:grpSpPr>
        <p:sp>
          <p:nvSpPr>
            <p:cNvPr id="3" name="标题 4"/>
            <p:cNvSpPr txBox="1"/>
            <p:nvPr/>
          </p:nvSpPr>
          <p:spPr>
            <a:xfrm>
              <a:off x="6471729" y="4100804"/>
              <a:ext cx="5419185" cy="89535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dirty="0"/>
                <a:t>餐饮类客户满意度</a:t>
              </a:r>
            </a:p>
          </p:txBody>
        </p:sp>
        <p:sp>
          <p:nvSpPr>
            <p:cNvPr id="4" name="文本框 7"/>
            <p:cNvSpPr txBox="1"/>
            <p:nvPr/>
          </p:nvSpPr>
          <p:spPr>
            <a:xfrm>
              <a:off x="6470613" y="2315714"/>
              <a:ext cx="2053096" cy="1785090"/>
            </a:xfrm>
            <a:prstGeom prst="rect">
              <a:avLst/>
            </a:prstGeom>
            <a:noFill/>
            <a:ln w="117475">
              <a:noFill/>
            </a:ln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r>
                <a:rPr lang="en-US" altLang="zh-CN" spc="100" dirty="0">
                  <a:solidFill>
                    <a:schemeClr val="bg1"/>
                  </a:solidFill>
                  <a:latin typeface="Impact" panose="020B0806030902050204" pitchFamily="34" charset="0"/>
                  <a:cs typeface="Arial" panose="020B0604020202020204" pitchFamily="34" charset="0"/>
                </a:rPr>
                <a:t>/03</a:t>
              </a:r>
              <a:endParaRPr lang="zh-CN" altLang="en-US" spc="100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餐饮客户——商务简餐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商务简餐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9.59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菜品分量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供应速度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9.81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智慧场馆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9.63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9.63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杭州国博APP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45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寻车系统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餐饮客户——商务简餐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166784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图表分析内容待补充。后续将在此处补充该客户分组二级指标的整体解读、优势项与待提升项。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餐饮客户——特色美食廊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特色美食廊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9.46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9.84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菜肴品质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菜品口味品相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8.84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菜品地方特色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菜肴份量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9.82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智慧场馆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杭州国博APP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45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室内导航系统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餐饮客户——特色美食廊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166784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图表分析内容待补充。后续将在此处补充该客户分组二级指标的整体解读、优势项与待提升项。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餐饮客户——婚宴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婚宴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9.47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接待指引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菜品口味品相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菜品地方特色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菜品供应速度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婚宴茶歇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9.16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7.62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9.03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宴会视听设备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餐饮客户——婚宴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166784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图表分析内容待补充。后续将在此处补充该客户分组二级指标的整体解读、优势项与待提升项。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餐饮客户——自助餐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自助餐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9.61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9.81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菜肴品种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菜品供应速度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菜品口味品相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菜品地方特色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接待指引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9.43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9.08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餐饮客户——自助餐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166784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图表分析内容待补充。后续将在此处补充该客户分组二级指标的整体解读、优势项与待提升项。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餐饮客户——宴会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宴会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9.76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菜肴品种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菜品供应速度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菜品口味品相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菜品地方特色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接待指引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宴会视听设备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45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餐饮客户——宴会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166784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图表分析内容待补充。后续将在此处补充该客户分组二级指标的整体解读、优势项与待提升项。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组合 2"/>
          <p:cNvGrpSpPr/>
          <p:nvPr/>
        </p:nvGrpSpPr>
        <p:grpSpPr>
          <a:xfrm>
            <a:off x="6470613" y="2315714"/>
            <a:ext cx="5420301" cy="2680440"/>
            <a:chOff x="6470613" y="2315714"/>
            <a:chExt cx="5420301" cy="2680440"/>
          </a:xfrm>
        </p:grpSpPr>
        <p:sp>
          <p:nvSpPr>
            <p:cNvPr id="3" name="标题 4"/>
            <p:cNvSpPr txBox="1"/>
            <p:nvPr/>
          </p:nvSpPr>
          <p:spPr>
            <a:xfrm>
              <a:off x="6471729" y="4100804"/>
              <a:ext cx="5419185" cy="89535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zh-CN" dirty="0"/>
                <a:t>G20</a:t>
              </a:r>
              <a:r>
                <a:rPr lang="zh-CN" altLang="en-US" dirty="0"/>
                <a:t>峰会体验场馆满意度</a:t>
              </a:r>
            </a:p>
          </p:txBody>
        </p:sp>
        <p:sp>
          <p:nvSpPr>
            <p:cNvPr id="4" name="文本框 7"/>
            <p:cNvSpPr txBox="1"/>
            <p:nvPr/>
          </p:nvSpPr>
          <p:spPr>
            <a:xfrm>
              <a:off x="6470613" y="2315714"/>
              <a:ext cx="2053096" cy="1785090"/>
            </a:xfrm>
            <a:prstGeom prst="rect">
              <a:avLst/>
            </a:prstGeom>
            <a:noFill/>
            <a:ln w="117475">
              <a:noFill/>
            </a:ln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r>
                <a:rPr lang="en-US" altLang="zh-CN" spc="100" dirty="0">
                  <a:solidFill>
                    <a:schemeClr val="bg1"/>
                  </a:solidFill>
                  <a:latin typeface="Impact" panose="020B0806030902050204" pitchFamily="34" charset="0"/>
                  <a:cs typeface="Arial" panose="020B0604020202020204" pitchFamily="34" charset="0"/>
                </a:rPr>
                <a:t>/04</a:t>
              </a:r>
              <a:endParaRPr lang="zh-CN" altLang="en-US" spc="100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G20峰会体验馆——游客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游客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9.82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旅游服务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售票/销售服务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景点设施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环境卫生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安全服务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讲解人员专业性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智慧服务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自助售卖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G20峰会体验馆——游客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166784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图表分析内容待补充。后续将在此处补充该客户分组二级指标的整体解读、优势项与待提升项。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G20峰会体验馆——旅行社工作人员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旅行社工作人员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旅游服务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售票/销售服务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景点设施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环境卫生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安全服务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讲解人员专业性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智慧服务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语音导览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自助售卖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92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线上商城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G20峰会体验馆——旅行社工作人员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166784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图表分析内容待补充。后续将在此处补充该客户分组二级指标的整体解读、优势项与待提升项。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组合 2"/>
          <p:cNvGrpSpPr/>
          <p:nvPr/>
        </p:nvGrpSpPr>
        <p:grpSpPr>
          <a:xfrm>
            <a:off x="6470613" y="2315714"/>
            <a:ext cx="5420301" cy="2680440"/>
            <a:chOff x="6470613" y="2315714"/>
            <a:chExt cx="5420301" cy="2680440"/>
          </a:xfrm>
        </p:grpSpPr>
        <p:sp>
          <p:nvSpPr>
            <p:cNvPr id="3" name="标题 4"/>
            <p:cNvSpPr txBox="1"/>
            <p:nvPr/>
          </p:nvSpPr>
          <p:spPr>
            <a:xfrm>
              <a:off x="6471729" y="4100804"/>
              <a:ext cx="5419185" cy="89535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dirty="0"/>
                <a:t>酒店客户满意度及酒店暗访评分</a:t>
              </a:r>
            </a:p>
          </p:txBody>
        </p:sp>
        <p:sp>
          <p:nvSpPr>
            <p:cNvPr id="4" name="文本框 7"/>
            <p:cNvSpPr txBox="1"/>
            <p:nvPr/>
          </p:nvSpPr>
          <p:spPr>
            <a:xfrm>
              <a:off x="6470613" y="2315714"/>
              <a:ext cx="2053096" cy="1785090"/>
            </a:xfrm>
            <a:prstGeom prst="rect">
              <a:avLst/>
            </a:prstGeom>
            <a:noFill/>
            <a:ln w="117475">
              <a:noFill/>
            </a:ln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r>
                <a:rPr lang="en-US" altLang="zh-CN" spc="100" dirty="0">
                  <a:solidFill>
                    <a:schemeClr val="bg1"/>
                  </a:solidFill>
                  <a:latin typeface="Impact" panose="020B0806030902050204" pitchFamily="34" charset="0"/>
                  <a:cs typeface="Arial" panose="020B0604020202020204" pitchFamily="34" charset="0"/>
                </a:rPr>
                <a:t>/05</a:t>
              </a:r>
              <a:endParaRPr lang="zh-CN" altLang="en-US" spc="100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酒店客户——酒店散客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散客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9.79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适合商务旅行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8.86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客房整体环境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客房设施设备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住宿用品质量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客房私密性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入住服务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礼宾服务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入住登记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离店退房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自助早餐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自助晚餐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送餐服务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零点服务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酒店客户——酒店散客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166784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图表分析内容待补充。后续将在此处补充该客户分组二级指标的整体解读、优势项与待提升项。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酒店客户——酒店住宿团队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住宿团队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9.87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适合商务旅行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8.77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客房整体环境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客房设施设备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住宿用品质量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客房私密性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入住服务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礼宾服务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入住登记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离店退房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9.82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自助早餐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自助晚餐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送餐服务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零点服务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酒店客户——酒店住宿团队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166784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图表分析内容待补充。后续将在此处补充该客户分组二级指标的整体解读、优势项与待提升项。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酒店客户——酒店参会客户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酒店参会客户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9.84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接待引导服务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茶歇服务品质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9.66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会议厅室匹配性，方便性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休息空间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AV效果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45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参会环境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智慧场馆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杭州国博APP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室内导航系统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寻车系统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2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云上看馆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酒店客户——酒店参会客户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166784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图表分析内容待补充。后续将在此处补充该客户分组二级指标的整体解读、优势项与待提升项。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酒店客户——酒店会议主（承）办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酒店会议主承办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9.82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9.84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9.81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销售经理服务态度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销售经理业务能力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现场对接协调沟通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现场对接服务效率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现场布置与搭建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茶歇服务与品质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9.06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9.06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在线服务渠道便捷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报馆流程及服务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工程设施设备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撤会服务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会后回访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整体协调和配合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服务响应及时性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9.74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会议厅室匹配性，方便性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休息空间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9.07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AV效果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交通流线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9.71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9.03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智慧场馆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92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寻车系统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酒店客户——酒店会议主（承）办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166784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图表分析内容待补充。后续将在此处补充该客户分组二级指标的整体解读、优势项与待提升项。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酒店客户——酒店餐饮客户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酒店餐饮客户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9.74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9.87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菜肴品种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菜品供应速度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菜品口味品相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菜品地方特色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接待指引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9.61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宴会视听设备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45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酒店客户——酒店餐饮客户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166784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图表分析内容待补充。后续将在此处补充该客户分组二级指标的整体解读、优势项与待提升项。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}"/>
  <p:tag name="ISLIDE.THEME" val="139e2a88-c592-4b5f-9711-ddb123b4f82c"/>
  <p:tag name="ISLIDE.TEMPLATE" val="#418440"/>
  <p:tag name="THINKCELLUNDODONOTDELETE" val="0"/>
  <p:tag name="COMMONDATA" val="eyJoZGlkIjoiODBlOWQwN2ZjNDU2Y2MzMGMzMjc5ZTMyYjVjMGM0YzcifQ=="/>
  <p:tag name="RESOURCE_RECORD_KEY" val="{&quot;10&quot;:[20253784],&quot;65&quot;:[20235185],&quot;70&quot;:[3322390,3322458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heme/theme1.xml><?xml version="1.0" encoding="utf-8"?>
<a:theme xmlns:a="http://schemas.openxmlformats.org/drawingml/2006/main" name="3_主题5">
  <a:themeElements>
    <a:clrScheme name="自定义 1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B2648"/>
      </a:accent1>
      <a:accent2>
        <a:srgbClr val="26BB99"/>
      </a:accent2>
      <a:accent3>
        <a:srgbClr val="9098A6"/>
      </a:accent3>
      <a:accent4>
        <a:srgbClr val="908992"/>
      </a:accent4>
      <a:accent5>
        <a:srgbClr val="5B5E71"/>
      </a:accent5>
      <a:accent6>
        <a:srgbClr val="838584"/>
      </a:accent6>
      <a:hlink>
        <a:srgbClr val="C92523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Mila</Template>
  <TotalTime>289</TotalTime>
  <Words>7</Words>
  <Application>Microsoft Macintosh PowerPoint</Application>
  <PresentationFormat>宽屏</PresentationFormat>
  <Paragraphs>1</Paragraphs>
  <Slides>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Calibri</vt:lpstr>
      <vt:lpstr>等线</vt:lpstr>
      <vt:lpstr>Arial</vt:lpstr>
      <vt:lpstr>3_主题5</vt:lpstr>
      <vt:lpstr>think-cell 幻灯片</vt:lpstr>
      <vt:lpstr>项目执行情况—样本收集情况</vt:lpstr>
    </vt:vector>
  </TitlesOfParts>
  <Manager>iSlide</Manager>
  <Company>iSlide</Company>
  <LinksUpToDate>false</LinksUpToDate>
  <SharedDoc>false</SharedDoc>
  <HyperlinkBase>https://www.islide.cc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Mila</dc:creator>
  <cp:lastModifiedBy>张奇进</cp:lastModifiedBy>
  <cp:revision>1466</cp:revision>
  <cp:lastPrinted>2020-04-29T16:00:00Z</cp:lastPrinted>
  <dcterms:created xsi:type="dcterms:W3CDTF">2020-04-29T16:00:00Z</dcterms:created>
  <dcterms:modified xsi:type="dcterms:W3CDTF">2026-04-08T15:59:48Z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  <property fmtid="{D5CDD505-2E9C-101B-9397-08002B2CF9AE}" pid="3" name="ICV">
    <vt:lpwstr>4244D058C3234304A8CAFD4066DC7AD4_13</vt:lpwstr>
  </property>
  <property fmtid="{D5CDD505-2E9C-101B-9397-08002B2CF9AE}" pid="4" name="KSOProductBuildVer">
    <vt:lpwstr>2052-12.1.0.25225</vt:lpwstr>
  </property>
</Properties>
</file>