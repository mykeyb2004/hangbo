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handoutMasters/handoutMaster1.xml" ContentType="application/vnd.openxmlformats-officedocument.presentationml.handoutMaster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5" r:id="rId1"/>
  </p:sldMasterIdLst>
  <p:notesMasterIdLst>
    <p:notesMasterId r:id="rId3"/>
  </p:notesMasterIdLst>
  <p:handoutMasterIdLst>
    <p:handoutMasterId r:id="rId4"/>
  </p:handoutMasterIdLst>
  <p:sldIdLst>
    <p:sldId id="256" r:id="rId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</p:sldIdLst>
  <p:sldSz cx="12192000" cy="6858000"/>
  <p:notesSz cx="6858000" cy="9144000"/>
  <p:embeddedFontLst>
    <p:embeddedFont>
      <p:font typeface="等线" panose="02010600030101010101" pitchFamily="2" charset="-122"/>
      <p:regular r:id="rId5"/>
      <p:bold r:id="rId6"/>
    </p:embeddedFont>
  </p:embeddedFontLst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F26B43"/>
          </p15:clr>
        </p15:guide>
        <p15:guide id="3" orient="horz" pos="222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483810881" name="WPS_1679281038" initials="W" lastIdx="1" clrIdx="2"/>
  <p:cmAuthor id="1" name="DELL" initials="D" lastIdx="1" clrIdx="0"/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B2648"/>
    <a:srgbClr val="BB2647"/>
    <a:srgbClr val="F3E8E9"/>
    <a:srgbClr val="ECA0B1"/>
    <a:srgbClr val="F7F9FD"/>
    <a:srgbClr val="F9E9EC"/>
    <a:srgbClr val="DE9BA4"/>
    <a:srgbClr val="A40000"/>
    <a:srgbClr val="BD374A"/>
    <a:srgbClr val="EB40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20" autoAdjust="0"/>
    <p:restoredTop sz="92000" autoAdjust="0"/>
  </p:normalViewPr>
  <p:slideViewPr>
    <p:cSldViewPr snapToGrid="0" showGuides="1">
      <p:cViewPr varScale="1">
        <p:scale>
          <a:sx n="176" d="100"/>
          <a:sy n="176" d="100"/>
        </p:scale>
        <p:origin x="864" y="200"/>
      </p:cViewPr>
      <p:guideLst>
        <p:guide pos="3839"/>
        <p:guide orient="horz" pos="222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80" d="100"/>
          <a:sy n="80" d="100"/>
        </p:scale>
        <p:origin x="3204" y="96"/>
      </p:cViewPr>
      <p:guideLst/>
    </p:cSldViewPr>
  </p:notesViewPr>
  <p:gridSpacing cx="45000" cy="45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font" Target="fonts/font1.fntdata"/><Relationship Id="rId6" Type="http://schemas.openxmlformats.org/officeDocument/2006/relationships/font" Target="fonts/font2.fntdata"/><Relationship Id="rId7" Type="http://schemas.openxmlformats.org/officeDocument/2006/relationships/tags" Target="tags/tag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78E0E4-DC06-4041-AFA7-BB6F527FFA3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B7432-8BB0-4EFA-A417-EFCDC17B281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总体判断：展览主承办满意度达9.88，体验主要由会展服务高分支撑，现场协调、服务效率、流程配合及多数执行环节评价稳定，硬件与配套整体也处于较好水平。</a:t>
            </a:r>
          </a:p>
          <a:p>
            <a:r>
              <a:t>亮点：展览主承办对现场对接、人员服务、报馆撤展、在线渠道及安保保洁等执行触点评价集中在满分，服务落地稳定性较强。</a:t>
            </a:r>
          </a:p>
          <a:p>
            <a:r>
              <a:t>关注点：相对偏弱环节集中在销售经理服务态度与业务能力、整体协调和配合，以及停车便利、交通流线和餐饮服务，需优先关注前端沟通与到场体验衔接。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总体判断：参展商满意度为9.64，体验基础主要由会场服务和配套服务支撑，工作人员仪容、态度、业务技能及客房、安保、保洁表现突出；相较之下，硬件设施为相对偏弱环节。</a:t>
            </a:r>
          </a:p>
          <a:p>
            <a:r>
              <a:t>关注点：参展商对硬件设施感受偏弱，尤其是园区停车方便、设施设备齐全、展厅使用情况和标识标牌清晰分值靠后；会场服务中的现场布置与搭建也低于服务团队相关指标，需作为后续优化重点。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总体判断：专业观众满意度为9.75，体验主要由会展服务满分表现和配套服务稳定支撑，工作人员态度、仪容仪表、业务技能评价突出；相较之下，体验短板集中在硬件设施环节。</a:t>
            </a:r>
          </a:p>
          <a:p>
            <a:r>
              <a:t>亮点：专业观众对会展服务评价最强，服务团队相关指标均为10分，客房、安保、保洁等配套触点也维持满分，现场服务稳定性较强。</a:t>
            </a:r>
          </a:p>
          <a:p>
            <a:r>
              <a:t>关注点：专业观众在硬件设施上的评价相对偏弱，尤其是展厅使用情况、设施设备齐全、餐饮服务，以及路线安排和标识标牌清晰度，需优先关注到场动线与场内使用体验。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总体判断：会展服务商满意度达到满分，服务协同、现场执行与硬件配套均获一致认可，体验支撑较为全面，未见相对偏弱板块。</a:t>
            </a:r>
          </a:p>
          <a:p>
            <a:r>
              <a:t>亮点：会展服务商对现场对接、报馆撤展、工程设备及交通物流、餐饮安保保洁等关键环节均给出满分，服务链条各触点评价一致。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总体判断：会议主承办满意度为9.71，体验主要由会展服务全面高分支撑，销售、现场对接、响应效率及整体配合表现稳定；相对偏弱环节集中在硬件设施与配套服务。</a:t>
            </a:r>
          </a:p>
          <a:p>
            <a:r>
              <a:t>亮点：会议主承办对会展服务评价接近满分，服务链条完整顺畅，前端销售到现场执行各触点表现一致，服务稳定性较强。</a:t>
            </a:r>
          </a:p>
          <a:p>
            <a:r>
              <a:t>关注点：会议主承办对标识标牌、厅室匹配、停车及交通流线评价相对偏弱，餐饮服务分值最低，为8.8，需优先关注配套体验与到场动线感受。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总体判断：参会人员满意度处于较好水平，体验主要由会展服务与配套服务支撑，其中人员服务、茶歇及安保保洁表现突出；相较之下，硬件设施仍是参会人员体验中相对偏弱的环节。</a:t>
            </a:r>
          </a:p>
          <a:p>
            <a:r>
              <a:t>亮点：参会人员对会展服务给予满分评价，工作人员仪容仪表、业务技能、服务态度及茶歇服务品质均获10分，服务执行稳定。</a:t>
            </a:r>
          </a:p>
          <a:p>
            <a:r>
              <a:t>关注点：硬件设施中，园区停车方便、标识标牌清晰、设施设备齐全及厅室匹配便利性评分相对靠后；配套服务中餐饮服务低于其他配套项，需优先关注参会动线与现场配套体验。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总体判断：商务简餐满意度为9.79，体验主要由餐饮服务稳定支撑，菜品分量、供应速度、卫生及人员服务均获满分；相较之下，硬件设施感受略弱，就餐区域温度和标识标牌清晰度偏低。</a:t>
            </a:r>
          </a:p>
          <a:p>
            <a:r>
              <a:t>亮点：商务简餐在出品与现场服务环节表现突出，分量、速度、卫生和服务品质均达到10分，客户对核心用餐体验认可度高。</a:t>
            </a:r>
          </a:p>
          <a:p>
            <a:r>
              <a:t>关注点：商务简餐需优先留意就餐区域温度与导视清晰度，两项分值分别为9.5和9.56，均低于其他细项，也是体验中相对偏弱的环节。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总体判断：特色美食廊满意度为9.55，体验主要由服务品质、就餐卫生、停车便利和菜肴份量支撑；相较之下，餐饮服务板块偏弱，菜品口味口相、菜肴品质及地方特色得分靠后。</a:t>
            </a:r>
          </a:p>
          <a:p>
            <a:r>
              <a:t>关注点：特色美食廊需优先关注菜品相关体验，其中菜品口味口相最低；同时，就餐区域温度、标识标牌清晰度和到达便利性也处于相对偏弱位置。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总体判断：婚宴满意度达9.8，体验主要由餐饮服务支撑，菜品口味品相、供应速度、服务态度及业务技能等关键触点均获满分；相较之下，硬件设施为相对偏弱环节。</a:t>
            </a:r>
          </a:p>
          <a:p>
            <a:r>
              <a:t>亮点：婚宴餐饮服务表现突出，菜品与服务执行稳定，就餐卫生、茶歇及菜品温度均获10分，对整体体验形成较强支撑。</a:t>
            </a:r>
          </a:p>
          <a:p>
            <a:r>
              <a:t>关注点：婚宴需优先关注标识标牌清晰度和就餐区域温度，两项满意度分别为9.27和9.64；硬件设施满意度9.64，低于餐饮服务。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总体判断：自助餐满意度达到满分，客户体验基础稳固，餐饮服务与硬件设施均获得充分认可，菜品、服务、环境及到达便利性共同支撑整体评价。</a:t>
            </a:r>
          </a:p>
          <a:p>
            <a:r>
              <a:t>亮点：自助餐各项已评价指标均为10分，餐饮服务与硬件设施表现一致，未出现明显弱势环节，体验感知较为完整均衡。</a:t>
            </a:r>
          </a:p>
          <a:p>
            <a:r>
              <a:t>关注点：自助餐当前各触点评分高度集中，后续管理上宜重点保持出品稳定性、现场服务一致性和环境体验连续性，避免局部波动影响整体感知。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总体判断：宴会满意度为9.48，体验主要由餐饮服务支撑，接待指引、服务品质及菜品温度表现稳健；相较之下，硬件设施偏弱，宴会的短板集中在园区停车便利性，交通到达和标识清晰度也有提升空间。</a:t>
            </a:r>
          </a:p>
          <a:p>
            <a:r>
              <a:t>关注点：宴会需优先关注停车方便，满意度仅8分，且与其较高关注度存在明显差距；同时可结合动线与导引环节，继续优化到达和入场体验。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总体判断：游客对G20峰会体验馆的体验评价达到满分，旅游服务与硬件设施两大板块均衡支撑整体感受，服务呈现稳定、完整。</a:t>
            </a:r>
          </a:p>
          <a:p>
            <a:r>
              <a:t>亮点：游客对景点设施、环境卫生、安全服务，以及讲解专业性、到达便利性和标识清晰度均给出满分评价，现场体验与基础保障表现突出。</a:t>
            </a:r>
          </a:p>
          <a:p>
            <a:r>
              <a:t>关注点：本次反馈未呈现明确弱势项，后续可继续关注满分评价在不同游客类型和高峰时段下的稳定性。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总体判断：住宿团队满意度达到9.98，体验主要由入住服务与餐饮服务的满分表现支撑，客房环境、住宿用品质量及私密性评价也较强，整体接待稳定。</a:t>
            </a:r>
          </a:p>
          <a:p>
            <a:r>
              <a:t>亮点：住宿团队在入住登记、客房服务、离店退房及早餐、送餐等关键接触点均获满分，服务执行一致性突出。</a:t>
            </a:r>
          </a:p>
          <a:p>
            <a:r>
              <a:t>关注点：住宿团队相对偏弱环节集中在硬件设施，其中标识标牌清晰度与交通便利性分值低于其他细项，导视与到达体验仍有提升空间。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总体判断：酒店参会客户满意度达9.88，体验基础主要由会展服务满分表现和配套服务高分支撑，服务触点稳定；相较之下，硬件设施为相对偏弱环节。</a:t>
            </a:r>
          </a:p>
          <a:p>
            <a:r>
              <a:t>亮点：酒店参会客户对会展服务评价最集中，工作人员形象、技能、态度及茶歇服务均获满分，餐饮、安保、保洁等配套服务也维持高分。</a:t>
            </a:r>
          </a:p>
          <a:p>
            <a:r>
              <a:t>关注点：酒店参会客户在到达便利性、会议厅室匹配性和标识标牌清晰度上的评分均为9.5，客房服务与休息空间也略低于整体满意度，宜优先关注参会动线与住宿衔接体验。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总体判断：酒店餐饮客户满意度为9.89，体验主要由餐饮服务稳定支撑，菜品温度、品种、供应速度、卫生及服务品质评价突出；硬件设施相对偏弱，餐饮场景中的导向清晰度和到达便利性需优先关注。</a:t>
            </a:r>
          </a:p>
          <a:p>
            <a:r>
              <a:t>亮点：酒店餐饮客户在餐饮服务上的认可度最为集中，多个关键触点获满分，基础出品与现场服务表现稳健。</a:t>
            </a:r>
          </a:p>
          <a:p>
            <a:r>
              <a:t>关注点：在已评价指标中，菜品口味品相、标识标牌清晰、交通便利性分值相对靠后，其中导向清晰度与到达便利性同时处于较高重要性区间。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2.png"/><Relationship Id="rId6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tags" Target="../tags/tag6.xml"/><Relationship Id="rId4" Type="http://schemas.openxmlformats.org/officeDocument/2006/relationships/tags" Target="../tags/tag7.xml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8255" imgH="8255" progId="TCLayout.ActiveDocument.1">
                  <p:embed/>
                </p:oleObj>
              </mc:Choice>
              <mc:Fallback>
                <p:oleObj name="think-cell 幻灯片" r:id="rId3" imgW="8255" imgH="8255" progId="TCLayout.ActiveDocument.1">
                  <p:embed/>
                  <p:pic>
                    <p:nvPicPr>
                      <p:cNvPr id="0" name="图片 205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801" name="副标题 2"/>
          <p:cNvSpPr>
            <a:spLocks noGrp="1"/>
          </p:cNvSpPr>
          <p:nvPr userDrawn="1">
            <p:ph type="subTitle" idx="1"/>
          </p:nvPr>
        </p:nvSpPr>
        <p:spPr>
          <a:xfrm>
            <a:off x="669925" y="3689103"/>
            <a:ext cx="6565901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标题 1"/>
          <p:cNvSpPr>
            <a:spLocks noGrp="1"/>
          </p:cNvSpPr>
          <p:nvPr userDrawn="1">
            <p:ph type="ctrTitle"/>
          </p:nvPr>
        </p:nvSpPr>
        <p:spPr>
          <a:xfrm>
            <a:off x="673099" y="1120776"/>
            <a:ext cx="6565901" cy="2048122"/>
          </a:xfrm>
        </p:spPr>
        <p:txBody>
          <a:bodyPr vert="horz" anchor="b">
            <a:norm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文本占位符 13"/>
          <p:cNvSpPr>
            <a:spLocks noGrp="1"/>
          </p:cNvSpPr>
          <p:nvPr userDrawn="1">
            <p:ph type="body" sz="quarter" idx="10" hasCustomPrompt="1"/>
          </p:nvPr>
        </p:nvSpPr>
        <p:spPr>
          <a:xfrm rot="20346747">
            <a:off x="3618610" y="3906838"/>
            <a:ext cx="7714175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 spc="12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文本占位符 13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673099" y="732429"/>
            <a:ext cx="10845800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9" name="组合 8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10" name="图片 9"/>
            <p:cNvPicPr>
              <a:picLocks noChangeAspect="1"/>
            </p:cNvPicPr>
            <p:nvPr userDrawn="1"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-8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312" b="4312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cxnSp>
          <p:nvCxnSpPr>
            <p:cNvPr id="11" name="直接连接符 4"/>
            <p:cNvCxnSpPr/>
            <p:nvPr userDrawn="1"/>
          </p:nvCxnSpPr>
          <p:spPr>
            <a:xfrm flipV="1">
              <a:off x="0" y="2695575"/>
              <a:ext cx="1492143" cy="1466850"/>
            </a:xfrm>
            <a:prstGeom prst="line">
              <a:avLst/>
            </a:prstGeom>
            <a:ln w="22225" cap="rnd">
              <a:solidFill>
                <a:schemeClr val="bg1">
                  <a:lumMod val="85000"/>
                  <a:alpha val="5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节标题">
    <p:bg>
      <p:bgPr>
        <a:solidFill>
          <a:schemeClr val="bg1">
            <a:alpha val="7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标题 1"/>
          <p:cNvSpPr>
            <a:spLocks noGrp="1"/>
          </p:cNvSpPr>
          <p:nvPr userDrawn="1">
            <p:ph type="title"/>
          </p:nvPr>
        </p:nvSpPr>
        <p:spPr>
          <a:xfrm>
            <a:off x="3386407" y="3429000"/>
            <a:ext cx="5419185" cy="895350"/>
          </a:xfrm>
        </p:spPr>
        <p:txBody>
          <a:bodyPr anchor="b">
            <a:norm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3387523" y="4324350"/>
            <a:ext cx="5419185" cy="1015623"/>
          </a:xfrm>
        </p:spPr>
        <p:txBody>
          <a:bodyPr anchor="t"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>
            <a:alphaModFix amt="5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312" b="4312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形 5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20487" y="214181"/>
            <a:ext cx="412732" cy="60033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4949945" y="1135063"/>
            <a:ext cx="5816598" cy="3667996"/>
          </a:xfrm>
        </p:spPr>
        <p:txBody>
          <a:bodyPr anchor="b"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62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949946" y="5823229"/>
            <a:ext cx="5816598" cy="314046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600" marR="0" lvl="0" indent="-228600" fontAlgn="auto">
              <a:spcAft>
                <a:spcPts val="0"/>
              </a:spcAft>
              <a:buClrTx/>
              <a:buSzTx/>
            </a:pPr>
            <a:r>
              <a:rPr lang="en-US" altLang="zh-CN" dirty="0"/>
              <a:t>Data</a:t>
            </a:r>
          </a:p>
        </p:txBody>
      </p:sp>
      <p:sp>
        <p:nvSpPr>
          <p:cNvPr id="6" name="文本占位符 13"/>
          <p:cNvSpPr>
            <a:spLocks noGrp="1"/>
          </p:cNvSpPr>
          <p:nvPr>
            <p:ph type="body" sz="quarter" idx="10" hasCustomPrompt="1"/>
          </p:nvPr>
        </p:nvSpPr>
        <p:spPr>
          <a:xfrm>
            <a:off x="4949948" y="5526958"/>
            <a:ext cx="5816598" cy="299297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tags" Target="../tags/tag2.xml"/><Relationship Id="rId11" Type="http://schemas.openxmlformats.org/officeDocument/2006/relationships/oleObject" Target="../embeddings/oleObject1.bin"/><Relationship Id="rId1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/>
          <p:cNvGraphicFramePr>
            <a:graphicFrameLocks noChangeAspect="1"/>
          </p:cNvGraphicFramePr>
          <p:nvPr userDrawn="1">
            <p:custDataLst>
              <p:tags r:id="rId10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11" imgW="8255" imgH="8255" progId="TCLayout.ActiveDocument.1">
                  <p:embed/>
                </p:oleObj>
              </mc:Choice>
              <mc:Fallback>
                <p:oleObj name="think-cell 幻灯片" r:id="rId11" imgW="8255" imgH="8255" progId="TCLayout.ActiveDocument.1">
                  <p:embed/>
                  <p:pic>
                    <p:nvPicPr>
                      <p:cNvPr id="0" name="图片 1029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3"/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zh-CN" altLang="en-US" dirty="0"/>
                <a:t>会展类客户满意度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/02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会展客户——展览活动主（承）办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展览主承办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销售经理业务能力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现场对接协调沟通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现场对接服务效率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报馆流程及服务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在线服务渠道便捷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撤展服务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展后回访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整体协调和配合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服务响应及时性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92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设备租赁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交通流线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货运通道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展厅使用情况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会展客户——展览活动主（承）办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907419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14000"/>
              </a:lnSpc>
              <a:spcAft>
                <a:spcPts val="526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总体判断：展览主承办满意度达9.88，体验主要由会展服务高分支撑，现场协调、服务效率、流程配合及多数执行环节评价稳定，硬件与配套整体也处于较好水平。</a:t>
            </a:r>
          </a:p>
          <a:p>
            <a:pPr algn="l" indent="355600">
              <a:lnSpc>
                <a:spcPct val="114000"/>
              </a:lnSpc>
              <a:spcAft>
                <a:spcPts val="526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亮点：展览主承办对现场对接、人员服务、报馆撤展、在线渠道及安保保洁等执行触点评价集中在满分，服务落地稳定性较强。</a:t>
            </a:r>
          </a:p>
          <a:p>
            <a:pPr algn="l" indent="355600">
              <a:lnSpc>
                <a:spcPct val="114000"/>
              </a:lnSpc>
              <a:spcAft>
                <a:spcPts val="526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关注点：相对偏弱环节集中在销售经理服务态度与业务能力、整体协调和配合，以及停车便利、交通流线和餐饮服务，需优先关注前端沟通与到场体验衔接。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会展客户——参展商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参展商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9.64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会场服务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接待引导服务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9.11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展厅使用情况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9.02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参展环境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会展客户——参展商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43054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总体判断：参展商满意度为9.64，体验基础主要由会场服务和配套服务支撑，工作人员仪容、态度、业务技能及客房、安保、保洁表现突出；相较之下，硬件设施为相对偏弱环节。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关注点：参展商对硬件设施感受偏弱，尤其是园区停车方便、设施设备齐全、展厅使用情况和标识标牌清晰分值靠后；会场服务中的现场布置与搭建也低于服务团队相关指标，需作为后续优化重点。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会展客户——专业观众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专业观众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接待引导服务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展会路线安排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展厅使用情况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参展环境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会展客户——专业观众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907419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14000"/>
              </a:lnSpc>
              <a:spcAft>
                <a:spcPts val="526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总体判断：专业观众满意度为9.75，体验主要由会展服务满分表现和配套服务稳定支撑，工作人员态度、仪容仪表、业务技能评价突出；相较之下，体验短板集中在硬件设施环节。</a:t>
            </a:r>
          </a:p>
          <a:p>
            <a:pPr algn="l" indent="355600">
              <a:lnSpc>
                <a:spcPct val="114000"/>
              </a:lnSpc>
              <a:spcAft>
                <a:spcPts val="526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亮点：专业观众对会展服务评价最强，服务团队相关指标均为10分，客房、安保、保洁等配套触点也维持满分，现场服务稳定性较强。</a:t>
            </a:r>
          </a:p>
          <a:p>
            <a:pPr algn="l" indent="355600">
              <a:lnSpc>
                <a:spcPct val="114000"/>
              </a:lnSpc>
              <a:spcAft>
                <a:spcPts val="526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关注点：专业观众在硬件设施上的评价相对偏弱，尤其是展厅使用情况、设施设备齐全、餐饮服务，以及路线安排和标识标牌清晰度，需优先关注到场动线与场内使用体验。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会展客户——会展服务商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会展服务商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现场对接协调沟通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现场对接服务效率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报馆流程及服务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在线服务渠道便捷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工程设备服务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整体协调和配合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服务响应及时性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撤展服务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展后回访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交通流线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园区停车便利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货运通道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快递物流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休息空间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会展客户——会展服务商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231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总体判断：会展服务商满意度达到满分，服务协同、现场执行与硬件配套均获一致认可，体验支撑较为全面，未见相对偏弱板块。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亮点：会展服务商对现场对接、报馆撤展、工程设备及交通物流、餐饮安保保洁等关键环节均给出满分，服务链条各触点评价一致。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会展客户——会议活动主（承）办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会议主承办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9.71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销售经理业务能力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现场对接协调沟通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现场对接服务效率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茶歇服务与品质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在线服务渠道便捷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报馆流程及服务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工程设施设备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撤会服务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会后回访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整体协调和配合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服务响应及时性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会议厅室匹配性，方便性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休息空间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AV效果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交通流线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9.61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会展客户——会议活动主（承）办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895655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22000"/>
              </a:lnSpc>
              <a:spcAft>
                <a:spcPts val="563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总体判断：会议主承办满意度为9.71，体验主要由会展服务全面高分支撑，销售、现场对接、响应效率及整体配合表现稳定；相对偏弱环节集中在硬件设施与配套服务。</a:t>
            </a:r>
          </a:p>
          <a:p>
            <a:pPr algn="l" indent="355600">
              <a:lnSpc>
                <a:spcPct val="122000"/>
              </a:lnSpc>
              <a:spcAft>
                <a:spcPts val="563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亮点：会议主承办对会展服务评价接近满分，服务链条完整顺畅，前端销售到现场执行各触点表现一致，服务稳定性较强。</a:t>
            </a:r>
          </a:p>
          <a:p>
            <a:pPr algn="l" indent="355600">
              <a:lnSpc>
                <a:spcPct val="122000"/>
              </a:lnSpc>
              <a:spcAft>
                <a:spcPts val="563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关注点：会议主承办对标识标牌、厅室匹配、停车及交通流线评价相对偏弱，餐饮服务分值最低，为8.8，需优先关注配套体验与到场动线感受。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会展客户——参会客户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参会人员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接待引导服务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茶歇服务品质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会议厅室匹配性，方便性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休息空间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AV效果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参会环境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会展客户——参会客户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907419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14000"/>
              </a:lnSpc>
              <a:spcAft>
                <a:spcPts val="526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总体判断：参会人员满意度处于较好水平，体验主要由会展服务与配套服务支撑，其中人员服务、茶歇及安保保洁表现突出；相较之下，硬件设施仍是参会人员体验中相对偏弱的环节。</a:t>
            </a:r>
          </a:p>
          <a:p>
            <a:pPr algn="l" indent="355600">
              <a:lnSpc>
                <a:spcPct val="114000"/>
              </a:lnSpc>
              <a:spcAft>
                <a:spcPts val="526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亮点：参会人员对会展服务给予满分评价，工作人员仪容仪表、业务技能、服务态度及茶歇服务品质均获10分，服务执行稳定。</a:t>
            </a:r>
          </a:p>
          <a:p>
            <a:pPr algn="l" indent="355600">
              <a:lnSpc>
                <a:spcPct val="114000"/>
              </a:lnSpc>
              <a:spcAft>
                <a:spcPts val="526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关注点：硬件设施中，园区停车方便、标识标牌清晰、设施设备齐全及厅室匹配便利性评分相对靠后；配套服务中餐饮服务低于其他配套项，需优先关注参会动线与现场配套体验。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zh-CN" altLang="en-US" dirty="0"/>
                <a:t>餐饮类客户满意度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/03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餐饮客户——商务简餐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商务简餐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菜品分量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9.66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餐饮客户——商务简餐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895655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22000"/>
              </a:lnSpc>
              <a:spcAft>
                <a:spcPts val="563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总体判断：商务简餐满意度为9.79，体验主要由餐饮服务稳定支撑，菜品分量、供应速度、卫生及人员服务均获满分；相较之下，硬件设施感受略弱，就餐区域温度和标识标牌清晰度偏低。</a:t>
            </a:r>
          </a:p>
          <a:p>
            <a:pPr algn="l" indent="355600">
              <a:lnSpc>
                <a:spcPct val="122000"/>
              </a:lnSpc>
              <a:spcAft>
                <a:spcPts val="563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亮点：商务简餐在出品与现场服务环节表现突出，分量、速度、卫生和服务品质均达到10分，客户对核心用餐体验认可度高。</a:t>
            </a:r>
          </a:p>
          <a:p>
            <a:pPr algn="l" indent="355600">
              <a:lnSpc>
                <a:spcPct val="122000"/>
              </a:lnSpc>
              <a:spcAft>
                <a:spcPts val="563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关注点：商务简餐需优先留意就餐区域温度与导视清晰度，两项分值分别为9.5和9.56，均低于其他细项，也是体验中相对偏弱的环节。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餐饮客户——特色美食廊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特色美食廊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9.55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9.46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菜品口味口相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菜肴份量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餐饮客户——特色美食廊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75892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总体判断：特色美食廊满意度为9.55，体验主要由服务品质、就餐卫生、停车便利和菜肴份量支撑；相较之下，餐饮服务板块偏弱，菜品口味口相、菜肴品质及地方特色得分靠后。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关注点：特色美食廊需优先关注菜品相关体验，其中菜品口味口相最低；同时，就餐区域温度、标识标牌清晰度和到达便利性也处于相对偏弱位置。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餐饮客户——婚宴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婚宴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接待指引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菜品口味品相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婚宴茶歇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宴会视听设备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餐饮客户——婚宴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895655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22000"/>
              </a:lnSpc>
              <a:spcAft>
                <a:spcPts val="563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总体判断：婚宴满意度达9.8，体验主要由餐饮服务支撑，菜品口味品相、供应速度、服务态度及业务技能等关键触点均获满分；相较之下，硬件设施为相对偏弱环节。</a:t>
            </a:r>
          </a:p>
          <a:p>
            <a:pPr algn="l" indent="355600">
              <a:lnSpc>
                <a:spcPct val="122000"/>
              </a:lnSpc>
              <a:spcAft>
                <a:spcPts val="563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亮点：婚宴餐饮服务表现突出，菜品与服务执行稳定，就餐卫生、茶歇及菜品温度均获10分，对整体体验形成较强支撑。</a:t>
            </a:r>
          </a:p>
          <a:p>
            <a:pPr algn="l" indent="355600">
              <a:lnSpc>
                <a:spcPct val="122000"/>
              </a:lnSpc>
              <a:spcAft>
                <a:spcPts val="563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关注点：婚宴需优先关注标识标牌清晰度和就餐区域温度，两项满意度分别为9.27和9.64；硬件设施满意度9.64，低于餐饮服务。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餐饮客户——自助餐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自助餐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菜肴品种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菜品口味口相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接待指引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餐饮客户——自助餐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84256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总体判断：自助餐满意度达到满分，客户体验基础稳固，餐饮服务与硬件设施均获得充分认可，菜品、服务、环境及到达便利性共同支撑整体评价。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亮点：自助餐各项已评价指标均为10分，餐饮服务与硬件设施表现一致，未出现明显弱势环节，体验感知较为完整均衡。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关注点：自助餐当前各触点评分高度集中，后续管理上宜重点保持出品稳定性、现场服务一致性和环境体验连续性，避免局部波动影响整体感知。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餐饮客户——宴会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宴会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9.48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菜肴品种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菜品口味品相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接待指引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宴会视听设备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45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餐饮客户——宴会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094733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总体判断：宴会满意度为9.48，体验主要由餐饮服务支撑，接待指引、服务品质及菜品温度表现稳健；相较之下，硬件设施偏弱，宴会的短板集中在园区停车便利性，交通到达和标识清晰度也有提升空间。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关注点：宴会需优先关注停车方便，满意度仅8分，且与其较高关注度存在明显差距；同时可结合动线与导引环节，继续优化到达和入场体验。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CN" dirty="0"/>
                <a:t>G20</a:t>
              </a:r>
              <a:r>
                <a:rPr lang="zh-CN" altLang="en-US" dirty="0"/>
                <a:t>峰会体验场馆满意度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/04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G20峰会体验馆——游客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游客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旅游服务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售票/销售服务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景点设施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环境卫生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安全服务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讲解人员专业性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G20峰会体验馆——游客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50674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总体判断：游客对G20峰会体验馆的体验评价达到满分，旅游服务与硬件设施两大板块均衡支撑整体感受，服务呈现稳定、完整。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亮点：游客对景点设施、环境卫生、安全服务，以及讲解专业性、到达便利性和标识清晰度均给出满分评价，现场体验与基础保障表现突出。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关注点：本次反馈未呈现明确弱势项，后续可继续关注满分评价在不同游客类型和高峰时段下的稳定性。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zh-CN" altLang="en-US" dirty="0"/>
                <a:t>酒店客户满意度及酒店暗访评分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/05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酒店客户——酒店住宿团队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住宿团队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适合商务旅行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客房整体环境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客房设施设备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住宿用品质量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客房私密性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入住服务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礼宾服务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入住登记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离店退房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自助早餐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自助晚餐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送餐服务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零点服务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酒店客户——酒店住宿团队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84256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总体判断：住宿团队满意度达到9.98，体验主要由入住服务与餐饮服务的满分表现支撑，客房环境、住宿用品质量及私密性评价也较强，整体接待稳定。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亮点：住宿团队在入住登记、客房服务、离店退房及早餐、送餐等关键接触点均获满分，服务执行一致性突出。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关注点：住宿团队相对偏弱环节集中在硬件设施，其中标识标牌清晰度与交通便利性分值低于其他细项，导视与到达体验仍有提升空间。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酒店客户——酒店参会客户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酒店参会客户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接待引导服务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茶歇服务品质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9.71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会议厅室匹配性，方便性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休息空间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AV效果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参会环境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酒店客户——酒店参会客户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907419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14000"/>
              </a:lnSpc>
              <a:spcAft>
                <a:spcPts val="526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总体判断：酒店参会客户满意度达9.88，体验基础主要由会展服务满分表现和配套服务高分支撑，服务触点稳定；相较之下，硬件设施为相对偏弱环节。</a:t>
            </a:r>
          </a:p>
          <a:p>
            <a:pPr algn="l" indent="355600">
              <a:lnSpc>
                <a:spcPct val="114000"/>
              </a:lnSpc>
              <a:spcAft>
                <a:spcPts val="526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亮点：酒店参会客户对会展服务评价最集中，工作人员形象、技能、态度及茶歇服务均获满分，餐饮、安保、保洁等配套服务也维持高分。</a:t>
            </a:r>
          </a:p>
          <a:p>
            <a:pPr algn="l" indent="355600">
              <a:lnSpc>
                <a:spcPct val="114000"/>
              </a:lnSpc>
              <a:spcAft>
                <a:spcPts val="526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关注点：酒店参会客户在到达便利性、会议厅室匹配性和标识标牌清晰度上的评分均为9.5，客房服务与休息空间也略低于整体满意度，宜优先关注参会动线与住宿衔接体验。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酒店客户——酒店餐饮客户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酒店餐饮客户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菜肴品种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菜品口味品相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接待指引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菜品口味口相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菜品分量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8001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宴会视听设备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酒店客户——酒店餐饮客户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895655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22000"/>
              </a:lnSpc>
              <a:spcAft>
                <a:spcPts val="563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总体判断：酒店餐饮客户满意度为9.89，体验主要由餐饮服务稳定支撑，菜品温度、品种、供应速度、卫生及服务品质评价突出；硬件设施相对偏弱，餐饮场景中的导向清晰度和到达便利性需优先关注。</a:t>
            </a:r>
          </a:p>
          <a:p>
            <a:pPr algn="l" indent="355600">
              <a:lnSpc>
                <a:spcPct val="122000"/>
              </a:lnSpc>
              <a:spcAft>
                <a:spcPts val="563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亮点：酒店餐饮客户在餐饮服务上的认可度最为集中，多个关键触点获满分，基础出品与现场服务表现稳健。</a:t>
            </a:r>
          </a:p>
          <a:p>
            <a:pPr algn="l" indent="355600">
              <a:lnSpc>
                <a:spcPct val="122000"/>
              </a:lnSpc>
              <a:spcAft>
                <a:spcPts val="563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关注点：在已评价指标中，菜品口味品相、标识标牌清晰、交通便利性分值相对靠后，其中导向清晰度与到达便利性同时处于较高重要性区间。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 TOOLS.GUIDESSETTING" val="{&quot;Id&quot;:&quot;2d4375ee-8516-45e0-8956-45702a61a9b6&quot;,&quot;Name&quot;:&quot;iSlide&quot;,&quot;HeaderHeight&quot;:15.0,&quot;FooterHeight&quot;:9.0000000000000036,&quot;SideMargin&quot;:5.4999999999999982,&quot;TopMargin&quot;:0.0,&quot;BottomMargin&quot;:0.0,&quot;IntervalMargin&quot;:1.3999999999999997}"/>
  <p:tag name="ISLIDE.GUIDESSETTING" val="{&quot;Id&quot;:&quot;GuidesStyle_Normal&quot;,&quot;Name&quot;:&quot;正常&quot;,&quot;HeaderHeight&quot;:15.0,&quot;FooterHeight&quot;:9.0,&quot;SideMargin&quot;:5.5,&quot;TopMargin&quot;:0.0,&quot;BottomMargin&quot;:0.0,&quot;IntervalMargin&quot;:1.5}"/>
  <p:tag name="ISLIDE.THEME" val="139e2a88-c592-4b5f-9711-ddb123b4f82c"/>
  <p:tag name="ISLIDE.TEMPLATE" val="#418440"/>
  <p:tag name="THINKCELLUNDODONOTDELETE" val="0"/>
  <p:tag name="COMMONDATA" val="eyJoZGlkIjoiODBlOWQwN2ZjNDU2Y2MzMGMzMjc5ZTMyYjVjMGM0YzcifQ=="/>
  <p:tag name="RESOURCE_RECORD_KEY" val="{&quot;10&quot;:[20253784],&quot;65&quot;:[20235185],&quot;70&quot;:[3322390,3322458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theme1.xml><?xml version="1.0" encoding="utf-8"?>
<a:theme xmlns:a="http://schemas.openxmlformats.org/drawingml/2006/main" name="3_主题5">
  <a:themeElements>
    <a:clrScheme name="自定义 1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BB2648"/>
      </a:accent1>
      <a:accent2>
        <a:srgbClr val="26BB99"/>
      </a:accent2>
      <a:accent3>
        <a:srgbClr val="9098A6"/>
      </a:accent3>
      <a:accent4>
        <a:srgbClr val="908992"/>
      </a:accent4>
      <a:accent5>
        <a:srgbClr val="5B5E71"/>
      </a:accent5>
      <a:accent6>
        <a:srgbClr val="838584"/>
      </a:accent6>
      <a:hlink>
        <a:srgbClr val="C92523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Mila</Template>
  <TotalTime>289</TotalTime>
  <Words>7</Words>
  <Application>Microsoft Macintosh PowerPoint</Application>
  <PresentationFormat>宽屏</PresentationFormat>
  <Paragraphs>1</Paragraphs>
  <Slides>1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Calibri</vt:lpstr>
      <vt:lpstr>等线</vt:lpstr>
      <vt:lpstr>Arial</vt:lpstr>
      <vt:lpstr>3_主题5</vt:lpstr>
      <vt:lpstr>think-cell 幻灯片</vt:lpstr>
      <vt:lpstr>项目执行情况—样本收集情况</vt:lpstr>
    </vt:vector>
  </TitlesOfParts>
  <Manager>iSlide</Manager>
  <Company>iSlide</Company>
  <LinksUpToDate>false</LinksUpToDate>
  <SharedDoc>false</SharedDoc>
  <HyperlinkBase>https://www.islide.cc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Mila</dc:creator>
  <cp:lastModifiedBy>张奇进</cp:lastModifiedBy>
  <cp:revision>1466</cp:revision>
  <cp:lastPrinted>2020-04-29T16:00:00Z</cp:lastPrinted>
  <dcterms:created xsi:type="dcterms:W3CDTF">2020-04-29T16:00:00Z</dcterms:created>
  <dcterms:modified xsi:type="dcterms:W3CDTF">2026-04-08T15:59:48Z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  <property fmtid="{D5CDD505-2E9C-101B-9397-08002B2CF9AE}" pid="3" name="ICV">
    <vt:lpwstr>4244D058C3234304A8CAFD4066DC7AD4_13</vt:lpwstr>
  </property>
  <property fmtid="{D5CDD505-2E9C-101B-9397-08002B2CF9AE}" pid="4" name="KSOProductBuildVer">
    <vt:lpwstr>2052-12.1.0.25225</vt:lpwstr>
  </property>
</Properties>
</file>