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5" r:id="rId1"/>
  </p:sldMasterIdLst>
  <p:notesMasterIdLst>
    <p:notesMasterId r:id="rId3"/>
  </p:notesMasterIdLst>
  <p:handoutMasterIdLst>
    <p:handoutMasterId r:id="rId4"/>
  </p:handoutMasterIdLst>
  <p:sldIdLst>
    <p:sldId id="256" r:id="rId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  <p:sldId id="295" r:id="rId51"/>
  </p:sldIdLst>
  <p:sldSz cx="12192000" cy="6858000"/>
  <p:notesSz cx="6858000" cy="9144000"/>
  <p:embeddedFontLst>
    <p:embeddedFont>
      <p:font typeface="等线" panose="02010600030101010101" pitchFamily="2" charset="-122"/>
      <p:regular r:id="rId5"/>
      <p:bold r:id="rId6"/>
    </p:embeddedFont>
  </p:embeddedFontLst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F26B43"/>
          </p15:clr>
        </p15:guide>
        <p15:guide id="3" orient="horz" pos="222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483810881" name="WPS_1679281038" initials="W" lastIdx="1" clrIdx="2"/>
  <p:cmAuthor id="1" name="DELL" initials="D" lastIdx="1" clrIdx="0"/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B2648"/>
    <a:srgbClr val="BB2647"/>
    <a:srgbClr val="F3E8E9"/>
    <a:srgbClr val="ECA0B1"/>
    <a:srgbClr val="F7F9FD"/>
    <a:srgbClr val="F9E9EC"/>
    <a:srgbClr val="DE9BA4"/>
    <a:srgbClr val="A40000"/>
    <a:srgbClr val="BD374A"/>
    <a:srgbClr val="EB40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20" autoAdjust="0"/>
    <p:restoredTop sz="92000" autoAdjust="0"/>
  </p:normalViewPr>
  <p:slideViewPr>
    <p:cSldViewPr snapToGrid="0" showGuides="1">
      <p:cViewPr varScale="1">
        <p:scale>
          <a:sx n="176" d="100"/>
          <a:sy n="176" d="100"/>
        </p:scale>
        <p:origin x="864" y="200"/>
      </p:cViewPr>
      <p:guideLst>
        <p:guide pos="3839"/>
        <p:guide orient="horz" pos="222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80" d="100"/>
          <a:sy n="80" d="100"/>
        </p:scale>
        <p:origin x="3204" y="96"/>
      </p:cViewPr>
      <p:guideLst/>
    </p:cSldViewPr>
  </p:notes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font" Target="fonts/font1.fntdata"/><Relationship Id="rId6" Type="http://schemas.openxmlformats.org/officeDocument/2006/relationships/font" Target="fonts/font2.fntdata"/><Relationship Id="rId7" Type="http://schemas.openxmlformats.org/officeDocument/2006/relationships/tags" Target="tags/tag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51" Type="http://schemas.openxmlformats.org/officeDocument/2006/relationships/slide" Target="slides/slide4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78E0E4-DC06-4041-AFA7-BB6F527FFA3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B7432-8BB0-4EFA-A417-EFCDC17B281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总体判断：展览主承办满意度9.43，体验主要由会展服务和配套服务支撑，现场对接、服务响应、客房服务等表现靠前。</a:t>
            </a:r>
          </a:p>
          <a:p>
            <a:r>
              <a:t>关注点：硬件设施与智慧场馆相对偏弱，交通便利、流线、标识标牌、展厅使用及云上看馆、寻车系统分值较低，需持续优化。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总体判断：参展商满意度9.55，体验主要由会场服务、安保和保洁支撑；硬件设施相对偏弱，园区停车、展厅使用情况、标识标牌及餐饮服务得分较低。</a:t>
            </a:r>
          </a:p>
          <a:p>
            <a:r>
              <a:t>关注点：优先补齐停车便利和导视清晰度，提升展厅使用与餐饮服务的稳定性，改善现场基础保障。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总体判断：专业观众满意度9.62，体验主要由会展服务、安保保洁和参观环境支撑，硬件设施与配套服务相对偏弱。</a:t>
            </a:r>
          </a:p>
          <a:p>
            <a:r>
              <a:t>亮点：接待引导、服务态度、业务技能及安保保洁均接近满分，现场服务表现稳定。</a:t>
            </a:r>
          </a:p>
          <a:p>
            <a:r>
              <a:t>关注点：餐饮服务8.79偏低，路线安排、停车、标识标牌和展厅使用也有提升空间。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总体判断：会展服务商满意度9.83，体验主要由会展服务支撑，现场对接、响应效率、服务态度等核心触点均达10分。</a:t>
            </a:r>
          </a:p>
          <a:p>
            <a:r>
              <a:t>亮点：会展服务二级指标9.95，配套服务9.90，服务协同与保障体验较稳。</a:t>
            </a:r>
          </a:p>
          <a:p>
            <a:r>
              <a:t>关注点：硬件设施相对偏弱，休息空间、设施设备齐全、货运通道及现场布置与搭建分值低于其他指标。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总体判断：会议主承办满意度为9.51，体验主要由会展服务支撑，配套服务表现相对稳定；硬件设施相对偏弱，智慧场馆得分最低但重要性同步较低。</a:t>
            </a:r>
          </a:p>
          <a:p>
            <a:r>
              <a:t>关注点：标识标牌清晰、餐饮服务为低分项；硬件设施重要性高于满意度，交通流线、会议厅室匹配性需优先核查。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总体判断：参会人员满意度由会展服务、配套服务支撑，工作人员服务、接待引导、安保保洁等环节评价稳定；硬件设施相对偏弱。</a:t>
            </a:r>
          </a:p>
          <a:p>
            <a:r>
              <a:t>亮点：会展服务满意度9.99，多个服务触点达到10分，体现现场服务执行较稳。</a:t>
            </a:r>
          </a:p>
          <a:p>
            <a:r>
              <a:t>关注点：园区停车方便、标识标牌清晰、餐饮服务分值偏低，影响参会便利性与配套体验。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总体判断：商务简餐满意度为9.54，体验主要由餐饮服务支撑，工作人员服务品质、菜品卫生、供应速度等环节评价稳定。</a:t>
            </a:r>
          </a:p>
          <a:p>
            <a:r>
              <a:t>关注点：硬件设施相对偏弱，园区停车方便得分8.46、标识标牌清晰得分9.31，需优先关注到达与识别环节。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总体判断：特色美食廊满意度9.34，体验主要由工作人员服务品质、就餐区域卫生和菜肴份量支撑，硬件设施及菜肴品质相对偏弱。</a:t>
            </a:r>
          </a:p>
          <a:p>
            <a:r>
              <a:t>关注点：菜品口味品相8.79、菜品地方特色8.84处于低位，标识标牌清晰9.08、园区停车方便9.29也需纳入改善优先项。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总体判断：婚宴满意度9.38，体验主要由餐饮服务支撑，人员服务、供应速度和卫生表现较稳；硬件设施相对偏弱。</a:t>
            </a:r>
          </a:p>
          <a:p>
            <a:r>
              <a:t>关注点：园区停车方便满意度7.82，明显低于其他指标；标识标牌清晰9.00，也低于婚宴多数接触点。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总体判断：自助餐体验基础主要由餐饮服务支撑，接待指引、服务品质和就餐卫生均达10分，菜肴品种与供应速度也处于较优水平。</a:t>
            </a:r>
          </a:p>
          <a:p>
            <a:r>
              <a:t>关注点：硬件设施为相对偏弱环节，其中园区停车方便满意度8.67，低于其他有效指标；菜品口味品相、地方特色也仍有提升空间。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总体判断：宴会满意度9.72，体验基础由餐饮服务支撑，硬件设施相对偏弱。</a:t>
            </a:r>
          </a:p>
          <a:p>
            <a:r>
              <a:t>亮点：菜品温度、接待指引、工作人员服务品质均为10分，服务执行稳定。</a:t>
            </a:r>
          </a:p>
          <a:p>
            <a:r>
              <a:t>关注点：园区停车方便9.20、标识标牌清晰9.42，是宴会体验中需优先关注的环节。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总体判断：游客满意度为9.9，体验主要由旅游服务支撑，服务态度、讲解专业性、环境卫生等触点均达满分。</a:t>
            </a:r>
          </a:p>
          <a:p>
            <a:r>
              <a:t>亮点：旅游服务满意度9.97，核心接待与现场服务表现稳定。</a:t>
            </a:r>
          </a:p>
          <a:p>
            <a:r>
              <a:t>关注点：硬件设施相对偏弱，其中标识标牌清晰度9.63，是游客体验中需优先优化的环节。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总体判断：旅行社工作人员满意度为10分，体验由旅游服务与硬件设施共同支撑，各项可评价指标均为满分，未见相对偏弱环节。</a:t>
            </a:r>
          </a:p>
          <a:p>
            <a:r>
              <a:t>亮点：售票销售、环境卫生、安全服务、人员形象与服务态度、讲解专业性，以及交通、停车、标识均获10分评价。</a:t>
            </a:r>
          </a:p>
          <a:p>
            <a:r>
              <a:t>关注点：满意度与重要性均为满分，后续重点在于维持服务一致性，避免高预期场景下体验波动。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总体判断：散客体验基础主要由入住服务与餐饮服务支撑，两项均接近或达到满分。</a:t>
            </a:r>
          </a:p>
          <a:p>
            <a:r>
              <a:t>亮点：入住登记、客房服务、退房、人员服务及餐饮各项均为10分，服务端稳定性较强。</a:t>
            </a:r>
          </a:p>
          <a:p>
            <a:r>
              <a:t>关注点：硬件设施相对偏弱，园区停车方便9分、标识标牌清晰9.3分，且重要性均为10分，需优先优化。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总体判断：住宿团队满意度达9.93，体验主要由入住服务满分表现及餐饮服务稳定得分支撑，客房相关指标也较均衡。</a:t>
            </a:r>
          </a:p>
          <a:p>
            <a:r>
              <a:t>亮点：入住登记、客房服务、离店退房及人员服务相关指标均为10分，服务链条表现稳定。</a:t>
            </a:r>
          </a:p>
          <a:p>
            <a:r>
              <a:t>关注点：硬件设施相对偏弱，园区停车方便9.11、标识标牌清晰9.78，是后续优先改善环节。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总体判断：酒店参会客户满意度9.79，体验优势主要来自会展服务与智慧场馆，人员服务、引导及数字化应用得分稳定。</a:t>
            </a:r>
          </a:p>
          <a:p>
            <a:r>
              <a:t>亮点：工作人员仪容仪表、业务技能、服务态度及安保、保洁、智慧场馆相关指标均为10分。</a:t>
            </a:r>
          </a:p>
          <a:p>
            <a:r>
              <a:t>关注点：硬件设施与配套服务相对偏弱，标识标牌清晰、会议厅室匹配性、园区停车方便及餐饮服务分值低于其他细项。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总体判断：酒店会议主承办满意度9.54，体验主要由会展服务和智慧场馆支撑，销售对接、现场协调及线上服务表现稳定。</a:t>
            </a:r>
          </a:p>
          <a:p>
            <a:r>
              <a:t>关注点：配套服务为相对弱势项，其中餐饮服务满意度7.5，低于其重要性8.5；硬件设施整体平稳，但休息空间评分相对偏弱。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总体判断：酒店餐饮客户满意度9.71，体验基础主要由餐饮服务支撑，硬件设施相对偏弱。</a:t>
            </a:r>
          </a:p>
          <a:p>
            <a:r>
              <a:t>亮点：菜品温度、供应速度、接待指引、卫生及服务品质均为10分，餐中基础服务稳定。</a:t>
            </a:r>
          </a:p>
          <a:p>
            <a:r>
              <a:t>关注点：园区停车方便8.84、标识标牌清晰9.42、菜品地方特色9.51，仍有提升空间。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2.png"/><Relationship Id="rId6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tags" Target="../tags/tag7.xml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8255" imgH="8255" progId="TCLayout.ActiveDocument.1">
                  <p:embed/>
                </p:oleObj>
              </mc:Choice>
              <mc:Fallback>
                <p:oleObj name="think-cell 幻灯片" r:id="rId3" imgW="8255" imgH="8255" progId="TCLayout.ActiveDocument.1">
                  <p:embed/>
                  <p:pic>
                    <p:nvPicPr>
                      <p:cNvPr id="0" name="图片 205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669925" y="3689103"/>
            <a:ext cx="6565901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673099" y="1120776"/>
            <a:ext cx="6565901" cy="2048122"/>
          </a:xfrm>
        </p:spPr>
        <p:txBody>
          <a:bodyPr vert="horz" anchor="b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 rot="20346747">
            <a:off x="3618610" y="3906838"/>
            <a:ext cx="7714175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 spc="12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673099" y="732429"/>
            <a:ext cx="10845800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9" name="组合 8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10" name="图片 9"/>
            <p:cNvPicPr>
              <a:picLocks noChangeAspect="1"/>
            </p:cNvPicPr>
            <p:nvPr userDrawn="1"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-8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12" b="431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cxnSp>
          <p:nvCxnSpPr>
            <p:cNvPr id="11" name="直接连接符 4"/>
            <p:cNvCxnSpPr/>
            <p:nvPr userDrawn="1"/>
          </p:nvCxnSpPr>
          <p:spPr>
            <a:xfrm flipV="1">
              <a:off x="0" y="2695575"/>
              <a:ext cx="1492143" cy="1466850"/>
            </a:xfrm>
            <a:prstGeom prst="line">
              <a:avLst/>
            </a:prstGeom>
            <a:ln w="22225" cap="rnd">
              <a:solidFill>
                <a:schemeClr val="bg1">
                  <a:lumMod val="85000"/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bg>
      <p:bgPr>
        <a:solidFill>
          <a:schemeClr val="bg1">
            <a:alpha val="7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3386407" y="3429000"/>
            <a:ext cx="5419185" cy="895350"/>
          </a:xfrm>
        </p:spPr>
        <p:txBody>
          <a:bodyPr anchor="b">
            <a:norm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3387523" y="4324350"/>
            <a:ext cx="5419185" cy="1015623"/>
          </a:xfrm>
        </p:spPr>
        <p:txBody>
          <a:bodyPr anchor="t"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>
            <a:alphaModFix amt="5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312" b="4312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形 5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20487" y="214181"/>
            <a:ext cx="412732" cy="60033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4949945" y="1135063"/>
            <a:ext cx="5816598" cy="3667996"/>
          </a:xfrm>
        </p:spPr>
        <p:txBody>
          <a:bodyPr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949946" y="5823229"/>
            <a:ext cx="5816598" cy="314046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600" marR="0" lvl="0" indent="-228600" fontAlgn="auto">
              <a:spcAft>
                <a:spcPts val="0"/>
              </a:spcAft>
              <a:buClrTx/>
              <a:buSzTx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/>
          <p:cNvSpPr>
            <a:spLocks noGrp="1"/>
          </p:cNvSpPr>
          <p:nvPr>
            <p:ph type="body" sz="quarter" idx="10" hasCustomPrompt="1"/>
          </p:nvPr>
        </p:nvSpPr>
        <p:spPr>
          <a:xfrm>
            <a:off x="4949948" y="5526958"/>
            <a:ext cx="5816598" cy="299297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tags" Target="../tags/tag2.xml"/><Relationship Id="rId11" Type="http://schemas.openxmlformats.org/officeDocument/2006/relationships/oleObject" Target="../embeddings/oleObject1.bin"/><Relationship Id="rId1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/>
          <p:cNvGraphicFramePr>
            <a:graphicFrameLocks noChangeAspect="1"/>
          </p:cNvGraphicFramePr>
          <p:nvPr userDrawn="1">
            <p:custDataLst>
              <p:tags r:id="rId10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11" imgW="8255" imgH="8255" progId="TCLayout.ActiveDocument.1">
                  <p:embed/>
                </p:oleObj>
              </mc:Choice>
              <mc:Fallback>
                <p:oleObj name="think-cell 幻灯片" r:id="rId11" imgW="8255" imgH="8255" progId="TCLayout.ActiveDocument.1">
                  <p:embed/>
                  <p:pic>
                    <p:nvPicPr>
                      <p:cNvPr id="0" name="图片 1029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/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会展类客户满意度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/02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会展客户——展览活动主（承）办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展览主承办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销售经理业务能力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在线服务渠道便捷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撤展服务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92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设备租赁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货运通道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展厅使用情况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智慧场馆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8.63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8.88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杭州国博APP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室内导航系统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寻车系统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云上看馆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会展客户——展览活动主（承）办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总体判断：展览主承办满意度9.43，体验主要由会展服务和配套服务支撑，现场对接、服务响应、客房服务等表现靠前。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关注点：硬件设施与智慧场馆相对偏弱，交通便利、流线、标识标牌、展厅使用及云上看馆、寻车系统分值较低，需持续优化。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会展客户——参展商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参展商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9.55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会场服务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接待引导服务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8.42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展厅使用情况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9.08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参展环境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会展客户——参展商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总体判断：参展商满意度9.55，体验主要由会场服务、安保和保洁支撑；硬件设施相对偏弱，园区停车、展厅使用情况、标识标牌及餐饮服务得分较低。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关注点：优先补齐停车便利和导视清晰度，提升展厅使用与餐饮服务的稳定性，改善现场基础保障。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会展客户——专业观众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专业观众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9.62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接待引导服务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展会路线安排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9.08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展厅使用情况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参展环境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会展客户——专业观众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170934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总体判断：专业观众满意度9.62，体验主要由会展服务、安保保洁和参观环境支撑，硬件设施与配套服务相对偏弱。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亮点：接待引导、服务态度、业务技能及安保保洁均接近满分，现场服务表现稳定。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关注点：餐饮服务8.79偏低，路线安排、停车、标识标牌和展厅使用也有提升空间。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会展客户——会展服务商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会展服务商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在线服务渠道便捷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工程设备服务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撤展服务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园区停车便利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货运通道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快递物流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会展客户——会展服务商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170934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总体判断：会展服务商满意度9.83，体验主要由会展服务支撑，现场对接、响应效率、服务态度等核心触点均达10分。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亮点：会展服务二级指标9.95，配套服务9.90，服务协同与保障体验较稳。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关注点：硬件设施相对偏弱，休息空间、设施设备齐全、货运通道及现场布置与搭建分值低于其他指标。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会展客户——会议活动主（承）办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会议主承办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9.51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9.53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销售经理业务能力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茶歇服务与品质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在线服务渠道便捷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工程设施设备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撤会服务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会议厅室匹配性，方便性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AV效果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9.09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智慧场馆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杭州国博APP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室内导航系统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寻车系统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云上看馆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会展客户——会议活动主（承）办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总体判断：会议主承办满意度为9.51，体验主要由会展服务支撑，配套服务表现相对稳定；硬件设施相对偏弱，智慧场馆得分最低但重要性同步较低。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关注点：标识标牌清晰、餐饮服务为低分项；硬件设施重要性高于满意度，交通流线、会议厅室匹配性需优先核查。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会展客户——参会客户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参会人员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9.77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接待引导服务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茶歇服务品质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会议厅室匹配性，方便性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AV效果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参会环境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会展客户——参会客户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170934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总体判断：参会人员满意度由会展服务、配套服务支撑，工作人员服务、接待引导、安保保洁等环节评价稳定；硬件设施相对偏弱。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亮点：会展服务满意度9.99，多个服务触点达到10分，体现现场服务执行较稳。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关注点：园区停车方便、标识标牌清晰、餐饮服务分值偏低，影响参会便利性与配套体验。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餐饮类客户满意度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/03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餐饮客户——商务简餐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商务简餐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9.54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菜品分量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8.46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餐饮客户——商务简餐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087293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总体判断：商务简餐满意度为9.54，体验主要由餐饮服务支撑，工作人员服务品质、菜品卫生、供应速度等环节评价稳定。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关注点：硬件设施相对偏弱，园区停车方便得分8.46、标识标牌清晰得分9.31，需优先关注到达与识别环节。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餐饮客户——特色美食廊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特色美食廊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9.34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菜肴份量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9.08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餐饮客户——特色美食廊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总体判断：特色美食廊满意度9.34，体验主要由工作人员服务品质、就餐区域卫生和菜肴份量支撑，硬件设施及菜肴品质相对偏弱。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关注点：菜品口味品相8.79、菜品地方特色8.84处于低位，标识标牌清晰9.08、园区停车方便9.29也需纳入改善优先项。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餐饮客户——婚宴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婚宴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9.76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婚宴茶歇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9.07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7.82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8.91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宴会视听设备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餐饮客户——婚宴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087293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总体判断：婚宴满意度9.38，体验主要由餐饮服务支撑，人员服务、供应速度和卫生表现较稳；硬件设施相对偏弱。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关注点：园区停车方便满意度7.82，明显低于其他指标；标识标牌清晰9.00，也低于婚宴多数接触点。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餐饮客户——自助餐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自助餐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9.54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菜肴品种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餐饮客户——自助餐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总体判断：自助餐体验基础主要由餐饮服务支撑，接待指引、服务品质和就餐卫生均达10分，菜肴品种与供应速度也处于较优水平。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关注点：硬件设施为相对偏弱环节，其中园区停车方便满意度8.67，低于其他有效指标；菜品口味品相、地方特色也仍有提升空间。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餐饮客户——宴会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宴会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9.72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菜肴品种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宴会视听设备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45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餐饮客户——宴会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993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总体判断：宴会满意度9.72，体验基础由餐饮服务支撑，硬件设施相对偏弱。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亮点：菜品温度、接待指引、工作人员服务品质均为10分，服务执行稳定。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关注点：园区停车方便9.20、标识标牌清晰9.42，是宴会体验中需优先关注的环节。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CN" dirty="0"/>
                <a:t>G20</a:t>
              </a:r>
              <a:r>
                <a:rPr lang="zh-CN" altLang="en-US" dirty="0"/>
                <a:t>峰会体验场馆满意度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/04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G20峰会体验馆——游客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游客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旅游服务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售票/销售服务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景点设施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环境卫生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安全服务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讲解人员专业性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G20峰会体验馆——游客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993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总体判断：游客满意度为9.9，体验主要由旅游服务支撑，服务态度、讲解专业性、环境卫生等触点均达满分。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亮点：旅游服务满意度9.97，核心接待与现场服务表现稳定。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关注点：硬件设施相对偏弱，其中标识标牌清晰度9.63，是游客体验中需优先优化的环节。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G20峰会体验馆——旅行社工作人员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旅行社工作人员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旅游服务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售票/销售服务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景点设施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环境卫生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安全服务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讲解人员专业性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G20峰会体验馆——旅行社工作人员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50674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总体判断：旅行社工作人员满意度为10分，体验由旅游服务与硬件设施共同支撑，各项可评价指标均为满分，未见相对偏弱环节。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亮点：售票销售、环境卫生、安全服务、人员形象与服务态度、讲解专业性，以及交通、停车、标识均获10分评价。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关注点：满意度与重要性均为满分，后续重点在于维持服务一致性，避免高预期场景下体验波动。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酒店客户满意度及酒店暗访评分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/05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酒店客户——酒店散客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散客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适合商务旅行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客房整体环境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客房设施设备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住宿用品质量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客房私密性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入住服务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礼宾服务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入住登记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离店退房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自助早餐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自助晚餐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送餐服务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零点服务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酒店客户——酒店散客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83512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总体判断：散客体验基础主要由入住服务与餐饮服务支撑，两项均接近或达到满分。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亮点：入住登记、客房服务、退房、人员服务及餐饮各项均为10分，服务端稳定性较强。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关注点：硬件设施相对偏弱，园区停车方便9分、标识标牌清晰9.3分，且重要性均为10分，需优先优化。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酒店客户——酒店住宿团队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住宿团队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适合商务旅行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客房整体环境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客房设施设备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住宿用品质量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客房私密性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入住服务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礼宾服务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入住登记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离店退房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自助早餐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自助晚餐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送餐服务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零点服务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酒店客户——酒店住宿团队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170934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总体判断：住宿团队满意度达9.93，体验主要由入住服务满分表现及餐饮服务稳定得分支撑，客房相关指标也较均衡。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亮点：入住登记、客房服务、离店退房及人员服务相关指标均为10分，服务链条表现稳定。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关注点：硬件设施相对偏弱，园区停车方便9.11、标识标牌清晰9.78，是后续优先改善环节。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酒店客户——酒店参会客户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酒店参会客户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接待引导服务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茶歇服务品质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会议厅室匹配性，方便性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AV效果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45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参会环境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智慧场馆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杭州国博APP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室内导航系统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寻车系统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2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云上看馆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酒店客户——酒店参会客户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50674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总体判断：酒店参会客户满意度9.79，体验优势主要来自会展服务与智慧场馆，人员服务、引导及数字化应用得分稳定。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亮点：工作人员仪容仪表、业务技能、服务态度及安保、保洁、智慧场馆相关指标均为10分。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关注点：硬件设施与配套服务相对偏弱，标识标牌清晰、会议厅室匹配性、园区停车方便及餐饮服务分值低于其他细项。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酒店客户——酒店会议主（承）办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酒店会议主承办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9.54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9.53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销售经理业务能力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茶歇服务与品质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在线服务渠道便捷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工程设施设备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撤会服务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会议厅室匹配性，方便性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AV效果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9.04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智慧场馆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杭州国博APP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室内导航系统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寻车系统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云上看馆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酒店客户——酒店会议主（承）办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总体判断：酒店会议主承办满意度9.54，体验主要由会展服务和智慧场馆支撑，销售对接、现场协调及线上服务表现稳定。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关注点：配套服务为相对弱势项，其中餐饮服务满意度7.5，低于其重要性8.5；硬件设施整体平稳，但休息空间评分相对偏弱。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酒店客户——酒店餐饮客户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酒店餐饮客户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菜肴品种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菜品分量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宴会视听设备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酒店客户——酒店餐饮客户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83512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总体判断：酒店餐饮客户满意度9.71，体验基础主要由餐饮服务支撑，硬件设施相对偏弱。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亮点：菜品温度、供应速度、接待指引、卫生及服务品质均为10分，餐中基础服务稳定。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关注点：园区停车方便8.84、标识标牌清晰9.42、菜品地方特色9.51，仍有提升空间。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ISLIDE.THEME" val="139e2a88-c592-4b5f-9711-ddb123b4f82c"/>
  <p:tag name="ISLIDE.TEMPLATE" val="#418440"/>
  <p:tag name="THINKCELLUNDODONOTDELETE" val="0"/>
  <p:tag name="COMMONDATA" val="eyJoZGlkIjoiODBlOWQwN2ZjNDU2Y2MzMGMzMjc5ZTMyYjVjMGM0YzcifQ=="/>
  <p:tag name="RESOURCE_RECORD_KEY" val="{&quot;10&quot;:[20253784],&quot;65&quot;:[20235185],&quot;70&quot;:[3322390,3322458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theme1.xml><?xml version="1.0" encoding="utf-8"?>
<a:theme xmlns:a="http://schemas.openxmlformats.org/drawingml/2006/main" name="3_主题5">
  <a:themeElements>
    <a:clrScheme name="自定义 1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BB2648"/>
      </a:accent1>
      <a:accent2>
        <a:srgbClr val="26BB99"/>
      </a:accent2>
      <a:accent3>
        <a:srgbClr val="9098A6"/>
      </a:accent3>
      <a:accent4>
        <a:srgbClr val="908992"/>
      </a:accent4>
      <a:accent5>
        <a:srgbClr val="5B5E71"/>
      </a:accent5>
      <a:accent6>
        <a:srgbClr val="838584"/>
      </a:accent6>
      <a:hlink>
        <a:srgbClr val="C92523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Mila</Template>
  <TotalTime>289</TotalTime>
  <Words>7</Words>
  <Application>Microsoft Macintosh PowerPoint</Application>
  <PresentationFormat>宽屏</PresentationFormat>
  <Paragraphs>1</Paragraphs>
  <Slides>1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Calibri</vt:lpstr>
      <vt:lpstr>等线</vt:lpstr>
      <vt:lpstr>Arial</vt:lpstr>
      <vt:lpstr>3_主题5</vt:lpstr>
      <vt:lpstr>think-cell 幻灯片</vt:lpstr>
      <vt:lpstr>项目执行情况—样本收集情况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Mila</dc:creator>
  <cp:lastModifiedBy>张奇进</cp:lastModifiedBy>
  <cp:revision>1466</cp:revision>
  <cp:lastPrinted>2020-04-29T16:00:00Z</cp:lastPrinted>
  <dcterms:created xsi:type="dcterms:W3CDTF">2020-04-29T16:00:00Z</dcterms:created>
  <dcterms:modified xsi:type="dcterms:W3CDTF">2026-04-08T15:59:48Z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  <property fmtid="{D5CDD505-2E9C-101B-9397-08002B2CF9AE}" pid="3" name="ICV">
    <vt:lpwstr>4244D058C3234304A8CAFD4066DC7AD4_13</vt:lpwstr>
  </property>
  <property fmtid="{D5CDD505-2E9C-101B-9397-08002B2CF9AE}" pid="4" name="KSOProductBuildVer">
    <vt:lpwstr>2052-12.1.0.25225</vt:lpwstr>
  </property>
</Properties>
</file>