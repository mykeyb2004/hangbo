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3"/>
  </p:notesMasterIdLst>
  <p:handoutMasterIdLst>
    <p:handoutMasterId r:id="rId4"/>
  </p:handoutMasterIdLst>
  <p:sldIdLst>
    <p:sldId id="256" r:id="rId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</p:sldIdLst>
  <p:sldSz cx="12192000" cy="6858000"/>
  <p:notesSz cx="6858000" cy="9144000"/>
  <p:embeddedFontLst>
    <p:embeddedFont>
      <p:font typeface="等线" panose="02010600030101010101" pitchFamily="2" charset="-122"/>
      <p:regular r:id="rId5"/>
      <p:bold r:id="rId6"/>
    </p:embeddedFont>
  </p:embeddedFontLst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0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86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总体判断：展览主承办体验主要由会展服务9.91和配套服务9.72支撑，硬件设施9.44相对偏弱，智慧场馆8.63为主要弱势项。</a:t>
            </a:r>
          </a:p>
          <a:p>
            <a:r>
              <a:t>关注点：云上看馆8.00、寻车系统8.50、餐饮服务9.15、展厅使用情况9.17及标识标牌9.27需优先关注。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总体判断：参展商体验以会场服务9.90为主要基础，人员服务态度和业务技能均为10分，配套服务9.57形成补充支撑。</a:t>
            </a:r>
          </a:p>
          <a:p>
            <a:r>
              <a:t>关注点：硬件设施9.18相对偏弱，其中园区停车8.42、餐饮服务8.78及展厅使用9.08仍有提升空间。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总体判断：专业观众满意度9.62，体验基础主要来自会展服务9.99；硬件设施9.35、配套服务9.51相对偏弱。</a:t>
            </a:r>
          </a:p>
          <a:p>
            <a:r>
              <a:t>亮点：接待引导服务达10分，人员服务相关指标均在9.98及以上。</a:t>
            </a:r>
          </a:p>
          <a:p>
            <a:r>
              <a:t>关注点：餐饮服务8.79、园区停车方便9.08、展厅使用情况9.16与高重要性不匹配，需优先纳入改进清单。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总体判断：会展服务商满意度9.83，体验优势集中在会展服务9.95和配套服务9.90，现场对接、响应、协调等服务环节评价稳定。</a:t>
            </a:r>
          </a:p>
          <a:p>
            <a:r>
              <a:t>亮点：多项核心服务指标达到10分，客房、安保等配套环节同样获得满分评价。</a:t>
            </a:r>
          </a:p>
          <a:p>
            <a:r>
              <a:t>关注点：硬件设施9.65相对偏弱，货运通道、休息空间、设施设备齐全及现场布置与搭建分值低于其他核心环节。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总体判断：会议主承办满意度9.51，体验主要由会展服务9.90支撑，现场协调、服务态度与响应表现稳定；硬件设施9.47、智慧场馆9.00相对偏弱。</a:t>
            </a:r>
          </a:p>
          <a:p>
            <a:r>
              <a:t>关注点：标识标牌9.11、餐饮服务9.09分值较低，且硬件设施重要性9.73高于满意度，需优先关注到达识别、会场使用便利与配套餐饮体验。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总体判断：参会人员满意度9.77，体验基础主要由会展服务和配套服务支撑，硬件设施相对偏弱。</a:t>
            </a:r>
          </a:p>
          <a:p>
            <a:r>
              <a:t>亮点：工作人员服务、接待引导、安保及保洁均达10分。</a:t>
            </a:r>
          </a:p>
          <a:p>
            <a:r>
              <a:t>关注点：园区停车、标识标牌、会议厅室匹配性及餐饮服务仍有提升空间。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总体判断：商务简餐满意度9.54，体验主要由餐饮服务支撑，菜品卫生、供应速度与人员服务评分稳定。</a:t>
            </a:r>
          </a:p>
          <a:p>
            <a:r>
              <a:t>关注点：硬件设施相对偏弱，园区停车方便8.46、标识标牌清晰9.31，是后续需要优先关注的环节。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总体判断：特色美食廊满意度9.34，体验主要由服务品质、就餐卫生和菜肴份量支撑，餐饮服务与硬件设施均存在相对偏弱环节。</a:t>
            </a:r>
          </a:p>
          <a:p>
            <a:r>
              <a:t>关注点：菜品口味品相、地方特色和标识标牌得分靠后，且重要性不低，需优先关注菜品呈现与现场导引体验。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总体判断：婚宴满意度9.38，体验主要由餐饮服务支撑，人员服务、供应速度和卫生表现较稳；硬件设施为相对弱势项。</a:t>
            </a:r>
          </a:p>
          <a:p>
            <a:r>
              <a:t>关注点：园区停车方便7.82、标识标牌清晰9.00偏低，接待指引9.33也有提升空间。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总体判断：自助餐体验主要由餐饮服务支撑，菜肴品种、供应速度、接待指引、服务品质和卫生评价较好。</a:t>
            </a:r>
          </a:p>
          <a:p>
            <a:r>
              <a:t>关注点：硬件设施相对偏弱，园区停车方便分值最低；菜品口味品相、地方特色仍有提升空间。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总体判断：宴会满意度9.72，体验主要由餐饮服务支撑，服务品质、接待指引、菜品温度均达10分。</a:t>
            </a:r>
          </a:p>
          <a:p>
            <a:r>
              <a:t>亮点：餐饮服务二级满意度9.90，菜肴品种、供应速度及就餐卫生评价接近满分。</a:t>
            </a:r>
          </a:p>
          <a:p>
            <a:r>
              <a:t>关注点：硬件设施相对偏弱，园区停车方便9.20、标识标牌清晰9.42需优先关注。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总体判断：游客满意度9.9，体验主要由旅游服务支撑，服务接待、环境卫生和讲解专业性表现突出。</a:t>
            </a:r>
          </a:p>
          <a:p>
            <a:r>
              <a:t>亮点：环境卫生、仪容仪表、服务态度、讲解专业性均为10分。</a:t>
            </a:r>
          </a:p>
          <a:p>
            <a:r>
              <a:t>关注点：硬件设施相对偏弱，标识标牌清晰度9.63，是游客体验中的主要提升点。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总体判断：旅行社工作人员满意度为10分，体验支撑来自旅游服务与硬件设施的同步满分表现，服务接待、讲解专业性、环境安全及交通停车等环节均获满分评价。</a:t>
            </a:r>
          </a:p>
          <a:p>
            <a:r>
              <a:t>亮点：各二级及三级指标满意度均为10分，未出现相对弱势项。</a:t>
            </a:r>
          </a:p>
          <a:p>
            <a:r>
              <a:t>关注点：后续需关注满分评价的稳定性，重点跟踪讲解服务、到达便利性与标识标牌等直接影响带团体验的环节。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总体判断：散客体验基础主要由入住服务和餐饮服务支撑，服务触点评分接近满分。</a:t>
            </a:r>
          </a:p>
          <a:p>
            <a:r>
              <a:t>亮点：餐饮服务及入住登记、客房服务、离店退房、人员表现均为10分，服务稳定性较强。</a:t>
            </a:r>
          </a:p>
          <a:p>
            <a:r>
              <a:t>关注点：硬件设施相对偏弱，园区停车方便9分、标识标牌清晰9.3分，与其重要性存在差距。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总体判断：住宿团队满意度9.93，体验主要由满分的入住服务、接近满分的餐饮服务及客房相关体验支撑。</a:t>
            </a:r>
          </a:p>
          <a:p>
            <a:r>
              <a:t>亮点：入住登记、客房服务、离店退房及服务人员表现均为10分，服务链条稳定。</a:t>
            </a:r>
          </a:p>
          <a:p>
            <a:r>
              <a:t>关注点：园区停车方便9.11、标识标牌清晰9.78相对偏弱，需优先关注到达与动线体验。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总体判断：酒店参会客户满意度9.79，体验主要由会展服务与智慧场馆支撑，硬件设施和配套服务相对偏弱。</a:t>
            </a:r>
          </a:p>
          <a:p>
            <a:r>
              <a:t>亮点：人员仪表、业务技能、服务态度、安保保洁及智慧场馆相关指标均为10分。</a:t>
            </a:r>
          </a:p>
          <a:p>
            <a:r>
              <a:t>关注点：标识标牌、会议厅室匹配性、停车、餐饮服务及客房服务分值相对靠后。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总体判断：酒店会议主承办满意度9.54，体验主要由会展服务和智慧场馆支撑，销售对接、现场协调及线上便捷性评价突出。</a:t>
            </a:r>
          </a:p>
          <a:p>
            <a:r>
              <a:t>关注点：配套服务相对偏弱，其中餐饮服务7.5低于其他细项；硬件设施中休息空间9.25，也有进一步优化空间。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总体判断：酒店餐饮客户满意度9.71，体验基础主要由餐饮服务支撑，硬件设施相对偏弱。</a:t>
            </a:r>
          </a:p>
          <a:p>
            <a:r>
              <a:t>亮点：菜品温度、供应速度、接待指引、卫生和服务品质均为10分。</a:t>
            </a:r>
          </a:p>
          <a:p>
            <a:r>
              <a:t>关注点：园区停车方便8.84、标识标牌清晰9.42、菜品地方特色9.51仍有提升空间。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tags" Target="../tags/tag7.xm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展览主承办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设备租赁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总体判断：展览主承办体验主要由会展服务9.91和配套服务9.72支撑，硬件设施9.44相对偏弱，智慧场馆8.63为主要弱势项。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关注点：云上看馆8.00、寻车系统8.50、餐饮服务9.15、展厅使用情况9.17及标识标牌9.27需优先关注。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会场服务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总体判断：参展商体验以会场服务9.90为主要基础，人员服务态度和业务技能均为10分，配套服务9.57形成补充支撑。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关注点：硬件设施9.18相对偏弱，其中园区停车8.42、餐饮服务8.78及展厅使用9.08仍有提升空间。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专业观众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展会路线安排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展厅使用情况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参展环境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3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66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总体判断：专业观众满意度9.62，体验基础主要来自会展服务9.99；硬件设施9.35、配套服务9.51相对偏弱。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亮点：接待引导服务达10分，人员服务相关指标均在9.98及以上。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关注点：餐饮服务8.79、园区停车方便9.08、展厅使用情况9.16与高重要性不匹配，需优先纳入改进清单。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会展服务商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工程设备服务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撤展服务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展后回访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园区停车便利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货运通道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快递物流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50674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总体判断：会展服务商满意度9.83，体验优势集中在会展服务9.95和配套服务9.90，现场对接、响应、协调等服务环节评价稳定。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亮点：多项核心服务指标达到10分，客房、安保等配套环节同样获得满分评价。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关注点：硬件设施9.65相对偏弱，货运通道、休息空间、设施设备齐全及现场布置与搭建分值低于其他核心环节。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撤会服务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7589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总体判断：会议主承办满意度9.51，体验主要由会展服务9.90支撑，现场协调、服务态度与响应表现稳定；硬件设施9.47、智慧场馆9.00相对偏弱。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关注点：标识标牌9.11、餐饮服务9.09分值较低，且硬件设施重要性9.73高于满意度，需优先关注到达识别、会场使用便利与配套餐饮体验。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1634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总体判断：参会人员满意度9.77，体验基础主要由会展服务和配套服务支撑，硬件设施相对偏弱。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亮点：工作人员服务、接待引导、安保及保洁均达10分。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关注点：园区停车、标识标牌、会议厅室匹配性及餐饮服务仍有提升空间。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餐饮类客户满意度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商务简餐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菜品分量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275148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总体判断：商务简餐满意度9.54，体验主要由餐饮服务支撑，菜品卫生、供应速度与人员服务评分稳定。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关注点：硬件设施相对偏弱，园区停车方便8.46、标识标牌清晰9.31，是后续需要优先关注的环节。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特色美食廊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菜肴份量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总体判断：特色美食廊满意度9.34，体验主要由服务品质、就餐卫生和菜肴份量支撑，餐饮服务与硬件设施均存在相对偏弱环节。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关注点：菜品口味品相、地方特色和标识标牌得分靠后，且重要性不低，需优先关注菜品呈现与现场导引体验。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婚宴茶歇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7.82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8.91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087293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总体判断：婚宴满意度9.38，体验主要由餐饮服务支撑，人员服务、供应速度和卫生表现较稳；硬件设施为相对弱势项。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关注点：园区停车方便7.82、标识标牌清晰9.00偏低，接待指引9.33也有提升空间。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自助餐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275148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总体判断：自助餐体验主要由餐饮服务支撑，菜肴品种、供应速度、接待指引、服务品质和卫生评价较好。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关注点：硬件设施相对偏弱，园区停车方便分值最低；菜品口味品相、地方特色仍有提升空间。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9.72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总体判断：宴会满意度9.72，体验主要由餐饮服务支撑，服务品质、接待指引、菜品温度均达10分。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亮点：餐饮服务二级满意度9.90，菜肴品种、供应速度及就餐卫生评价接近满分。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关注点：硬件设施相对偏弱，园区停车方便9.20、标识标牌清晰9.42需优先关注。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游客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总体判断：游客满意度9.9，体验主要由旅游服务支撑，服务接待、环境卫生和讲解专业性表现突出。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亮点：环境卫生、仪容仪表、服务态度、讲解专业性均为10分。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关注点：硬件设施相对偏弱，标识标牌清晰度9.63，是游客体验中的主要提升点。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旅行社工作人员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旅游服务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售票/销售服务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景点设施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环境卫生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安全服务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讲解人员专业性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170934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总体判断：旅行社工作人员满意度为10分，体验支撑来自旅游服务与硬件设施的同步满分表现，服务接待、讲解专业性、环境安全及交通停车等环节均获满分评价。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亮点：各二级及三级指标满意度均为10分，未出现相对弱势项。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关注点：后续需关注满分评价的稳定性，重点跟踪讲解服务、到达便利性与标识标牌等直接影响带团体验的环节。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散客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2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总体判断：散客体验基础主要由入住服务和餐饮服务支撑，服务触点评分接近满分。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亮点：餐饮服务及入住登记、客房服务、离店退房、人员表现均为10分，服务稳定性较强。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关注点：硬件设施相对偏弱，园区停车方便9分、标识标牌清晰9.3分，与其重要性存在差距。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住宿团队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适合商务旅行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客房整体环境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住宿用品质量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客房私密性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礼宾服务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入住登记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离店退房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自助早餐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自助晚餐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送餐服务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零点服务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总体判断：住宿团队满意度9.93，体验主要由满分的入住服务、接近满分的餐饮服务及客房相关体验支撑。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亮点：入住登记、客房服务、离店退房及服务人员表现均为10分，服务链条稳定。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关注点：园区停车方便9.11、标识标牌清晰9.78相对偏弱，需优先关注到达与动线体验。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酒店参会客户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接待引导服务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参会环境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杭州国博APP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室内导航系统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云上看馆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83512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总体判断：酒店参会客户满意度9.79，体验主要由会展服务与智慧场馆支撑，硬件设施和配套服务相对偏弱。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亮点：人员仪表、业务技能、服务态度、安保保洁及智慧场馆相关指标均为10分。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关注点：标识标牌、会议厅室匹配性、停车、餐饮服务及客房服务分值相对靠后。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酒店会议主承办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9.54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9.53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会展服务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9.57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销售经理业务能力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现场对接协调沟通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现场对接服务效率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工作人员仪容仪表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工作人员服务态度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工作人员业务技能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现场布置与搭建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茶歇服务与品质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在线服务渠道便捷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报馆流程及服务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工程设施设备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会后回访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整体协调和配合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服务响应及时性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737360"/>
          <a:ext cx="528523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/>
                <a:gridCol w="1004194"/>
                <a:gridCol w="1004195"/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9.43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会议厅室匹配性，方便性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设施设备齐全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休息空间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AV效果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9.25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交通流线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配套服务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9.04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9.12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客房服务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安保服务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保洁服务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9.33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88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智慧场馆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92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寻车系统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酒店客户——酒店会议主（承）办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231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总体判断：酒店会议主承办满意度9.54，体验主要由会展服务和智慧场馆支撑，销售对接、现场协调及线上便捷性评价突出。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关注点：配套服务相对偏弱，其中餐饮服务7.5低于其他细项；硬件设施中休息空间9.25，也有进一步优化空间。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143000"/>
          <a:ext cx="10853928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酒店餐饮客户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9.71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9.96</a:t>
                      </a:r>
                    </a:p>
                  </a:txBody>
                  <a:tcPr anchor="ctr" marL="50800" marR="50800" marT="12700" marB="12700">
                    <a:solidFill>
                      <a:srgbClr val="D87A96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737360"/>
          <a:ext cx="10853928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/>
                <a:gridCol w="2062246"/>
                <a:gridCol w="2062247"/>
              </a:tblGrid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指标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满意度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FFFFFF"/>
                          </a:solidFill>
                          <a:latin typeface="楷体"/>
                          <a:ea typeface="楷体"/>
                          <a:cs typeface="楷体"/>
                        </a:rPr>
                        <a:t>重要性</a:t>
                      </a:r>
                    </a:p>
                  </a:txBody>
                  <a:tcPr anchor="ctr" marL="50800" marR="50800" marT="12700" marB="12700">
                    <a:solidFill>
                      <a:srgbClr val="BF1E4B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餐饮服务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9.85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9.99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菜肴品种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9.66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菜品供应速度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菜品口味品相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9.74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菜品地方特色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9.51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接待指引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就餐区域温度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就餐区域卫生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工作人员服务品质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硬件设施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9.58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9.92</a:t>
                      </a:r>
                    </a:p>
                  </a:txBody>
                  <a:tcPr anchor="ctr" marL="50800" marR="50800" marT="12700" marB="12700">
                    <a:solidFill>
                      <a:srgbClr val="E49AAF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标识标牌清晰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9.42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9.98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宴会视听设备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9.95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37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园区停车方便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9.67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045"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楷体"/>
                          <a:ea typeface="楷体"/>
                          <a:cs typeface="楷体"/>
                        </a:rPr>
                        <a:t>交通便利，容易到达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lang="zh-CN">
                          <a:solidFill>
                            <a:srgbClr val="4D587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9.94</a:t>
                      </a:r>
                    </a:p>
                  </a:txBody>
                  <a:tcPr anchor="ctr" marL="50800" marR="50800" marT="12700" marB="12700">
                    <a:solidFill>
                      <a:srgbClr val="F4E8EA"/>
                    </a:solidFill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3499307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anchor="t" lIns="228600" rIns="228600" tIns="228600" bIns="228600">
            <a:spAutoFit/>
          </a:bodyPr>
          <a:lstStyle/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总体判断：酒店餐饮客户满意度9.71，体验基础主要由餐饮服务支撑，硬件设施相对偏弱。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亮点：菜品温度、供应速度、接待指引、卫生和服务品质均为10分。</a:t>
            </a:r>
          </a:p>
          <a:p>
            <a:pPr algn="l" indent="355600">
              <a:lnSpc>
                <a:spcPct val="130000"/>
              </a:lnSpc>
              <a:spcAft>
                <a:spcPts val="600"/>
              </a:spcAft>
            </a:pPr>
            <a:r>
              <a:rPr sz="1800" lang="zh-CN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关注点：园区停车方便8.84、标识标牌清晰9.42、菜品地方特色9.51仍有提升空间。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289</TotalTime>
  <Words>7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等线</vt:lpstr>
      <vt:lpstr>Arial</vt:lpstr>
      <vt:lpstr>3_主题5</vt:lpstr>
      <vt:lpstr>think-cell 幻灯片</vt:lpstr>
      <vt:lpstr>项目执行情况—样本收集情况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2026-04-08T15:59:48Z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