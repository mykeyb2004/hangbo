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5" r:id="rId1"/>
  </p:sldMasterIdLst>
  <p:notesMasterIdLst>
    <p:notesMasterId r:id="rId3"/>
  </p:notesMasterIdLst>
  <p:handoutMasterIdLst>
    <p:handoutMasterId r:id="rId4"/>
  </p:handoutMasterIdLst>
  <p:sldIdLst>
    <p:sldId id="256" r:id="rId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</p:sldIdLst>
  <p:sldSz cx="12192000" cy="6858000"/>
  <p:notesSz cx="6858000" cy="9144000"/>
  <p:embeddedFontLst>
    <p:embeddedFont>
      <p:font typeface="等线" panose="02010600030101010101" pitchFamily="2" charset="-122"/>
      <p:regular r:id="rId5"/>
      <p:bold r:id="rId6"/>
    </p:embeddedFont>
  </p:embeddedFontLst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F26B43"/>
          </p15:clr>
        </p15:guide>
        <p15:guide id="3" orient="horz" pos="2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DELL" initials="D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2648"/>
    <a:srgbClr val="BB2647"/>
    <a:srgbClr val="F3E8E9"/>
    <a:srgbClr val="ECA0B1"/>
    <a:srgbClr val="F7F9FD"/>
    <a:srgbClr val="F9E9EC"/>
    <a:srgbClr val="DE9BA4"/>
    <a:srgbClr val="A40000"/>
    <a:srgbClr val="BD374A"/>
    <a:srgbClr val="EB40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0" autoAdjust="0"/>
    <p:restoredTop sz="92000" autoAdjust="0"/>
  </p:normalViewPr>
  <p:slideViewPr>
    <p:cSldViewPr snapToGrid="0" showGuides="1">
      <p:cViewPr varScale="1">
        <p:scale>
          <a:sx n="176" d="100"/>
          <a:sy n="176" d="100"/>
        </p:scale>
        <p:origin x="864" y="200"/>
      </p:cViewPr>
      <p:guideLst>
        <p:guide pos="3839"/>
        <p:guide orient="horz" pos="2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45000" cy="45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tags" Target="tags/tag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总体判断：展览主承办总体满意度为9.61，体验主要由会展服务高分支撑，现场协调、服务效率、报馆流程等执行环节表现稳定；相对偏弱集中在硬件设施与部分配套服务。</a:t>
            </a:r>
          </a:p>
          <a:p>
            <a:r>
              <a:t>亮点：展览主承办对会展服务评价突出，会展服务达9.91，现场对接协调沟通、服务效率、工作人员服务与业务技能、报馆流程等多项达到10分。</a:t>
            </a:r>
          </a:p>
          <a:p>
            <a:r>
              <a:t>关注点：展览主承办在硬件设施上的感受偏弱，标识标牌清晰、交通便利与展厅使用情况分值靠后；配套服务中餐饮服务仅8.83，也需优先关注。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总体判断：参展商满意度为9.49，体验基础主要由会场服务支撑，工作人员态度、仪容及业务技能评价靠前；相较之下，硬件设施和配套服务承接力偏弱。</a:t>
            </a:r>
          </a:p>
          <a:p>
            <a:r>
              <a:t>关注点：参展商对餐饮服务评价最低，其次为客房服务；同时，停车便利、标识标牌、设施设备和展厅使用相关感受仍有提升空间。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总体判断：专业观众满意度由会展服务满分支撑，工作人员仪容、态度和业务技能表现稳定；相较之下，硬件设施与配套服务偏弱，路线安排、标识标牌、展厅使用和餐饮服务拉开差距。</a:t>
            </a:r>
          </a:p>
          <a:p>
            <a:r>
              <a:t>关注点：专业观众到场后的动线与基础配套体验不如服务端突出，餐饮服务8分，展会路线安排8.92分、展厅使用8.94分、标识标牌9.09分，宜优先关注找路、用餐和观展便利性。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总体判断：会展服务商满意度达9.9，高分主要由会展服务与配套服务支撑，现场沟通、响应效率、服务态度及整体配合均获满分，体验稳定性较强。</a:t>
            </a:r>
          </a:p>
          <a:p>
            <a:r>
              <a:t>亮点：会展服务商对配套服务评价最集中，餐饮、安保、保洁均为10分；报馆、撤展、展后回访及在线服务渠道表现也较完整。</a:t>
            </a:r>
          </a:p>
          <a:p>
            <a:r>
              <a:t>关注点：相对偏弱环节集中在现场布置与搭建、设施设备齐全，以及工程设备服务、货运通道等执行与保障相关触点，需持续关注服务交付的一致性。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总体判断：会议主承办满意度为9.74，体验主要由会展服务各项满分支撑，配套服务同样稳健；相较之下，硬件设施为相对偏弱环节。</a:t>
            </a:r>
          </a:p>
          <a:p>
            <a:r>
              <a:t>亮点：会议主承办对销售、现场协同、流程服务及会后回访评价集中在满分，会务执行与协同配合认可度突出。</a:t>
            </a:r>
          </a:p>
          <a:p>
            <a:r>
              <a:t>关注点：会议主承办在园区停车方便、交通流线、标识标牌清晰度及会议厅室匹配便利性上的评价低于其他环节，硬件到达与动线体验仍有提升空间。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总体判断：参会人员满意度为9.67，体验基础主要来自会展服务与配套服务的稳定表现，工作人员形象、技能和服务态度均获满分；相较之下，硬件设施仍是参会人员体验中的相对偏弱环节。</a:t>
            </a:r>
          </a:p>
          <a:p>
            <a:r>
              <a:t>亮点：参会人员对会展服务评价最为集中，安保、保洁及工作人员相关触点均达到10分，茶歇服务也维持较好水准。</a:t>
            </a:r>
          </a:p>
          <a:p>
            <a:r>
              <a:t>关注点：参会人员对园区停车方便、标识标牌清晰、会议厅室匹配性及餐饮服务的评分相对靠后，需优先关注到达指引、场地适配和用餐体验。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总体判断：商务简餐满意度为9.55，体验主要由餐饮服务支撑，工作人员服务品质、供应速度、菜品温度与卫生表现稳健；相较之下，硬件设施为相对偏弱环节。</a:t>
            </a:r>
          </a:p>
          <a:p>
            <a:r>
              <a:t>关注点：商务简餐的短板集中在到达与现场导引体验，标识标牌清晰度得分最低，园区停车方便和交通便利性也处于偏弱区间，需优先关注客户进场与找寻路径。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总体判断：特色美食廊满意度为9.18，体验主要由工作人员服务品质、菜肴份量和就餐区域卫生支撑，餐饮服务略好于硬件设施，但菜肴相关感受与到店动线识别相对偏弱。</a:t>
            </a:r>
          </a:p>
          <a:p>
            <a:r>
              <a:t>关注点：特色美食廊的菜品口味口相、地方特色、菜肴品质均处于低位，标识标牌清晰度和园区停车方便性也有提升空间，需优先关注顾客对出品吸引力和到达便利性的直接感受。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总体判断：婚宴满意度为9.43，体验主要由餐饮服务支撑，菜品口味品相、供应速度、服务态度与业务技能评价突出；硬件设施相对偏弱，拉开差距。</a:t>
            </a:r>
          </a:p>
          <a:p>
            <a:r>
              <a:t>关注点：婚宴的弱势项集中在到达与现场导引，其中园区停车方便评分仅7分，标识标牌清晰度也偏低；就餐区域温度在餐饮服务中相对靠后，仍有提升空间。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总体判断：自助餐满意度为9.31，体验主要由餐饮服务支撑，菜肴品种、供应速度、接待指引和工作人员服务品质表现较好；相较之下，硬件设施感受偏弱，菜品口味口相和地方特色也有提升空间。</a:t>
            </a:r>
          </a:p>
          <a:p>
            <a:r>
              <a:t>关注点：自助餐当前分值较低的环节集中在园区停车方便、菜品口味口相和标识标牌清晰，硬件设施相关体验需优先关注。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总体判断：宴会满意度达9.78，体验主要由餐饮服务支撑，菜品温度、品种、供应速度、环境卫生及服务品质均获满分；相较之下，硬件设施感知略弱，尤其交通到达与标识清晰度仍有提升空间。</a:t>
            </a:r>
          </a:p>
          <a:p>
            <a:r>
              <a:t>亮点：宴会餐饮服务表现稳定，多个关键接触点获10分，菜品地方特色和视听设备评价也处于较高水平。</a:t>
            </a:r>
          </a:p>
          <a:p>
            <a:r>
              <a:t>关注点：宴会硬件设施中，标识标牌清晰度9.3、交通便利易到达9.4，均低于其他主要接触点，建议作为优先关注环节。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总体判断：散客满意度处于较优水平，体验主要由入住服务、餐饮服务及客房环境与用品表现共同支撑，硬件设施中的到达指引与停车便利性相对偏弱。</a:t>
            </a:r>
          </a:p>
          <a:p>
            <a:r>
              <a:t>亮点：散客对入住登记、客房服务、离店退房及餐饮服务评价集中在满分，服务触点稳定，客房私密性和设施设备认可度也较高。</a:t>
            </a:r>
          </a:p>
          <a:p>
            <a:r>
              <a:t>关注点：散客对园区停车方便、标识标牌清晰和交通便利的评价低于其他细项，硬件端的到店动线与指引体验仍有提升空间。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总体判断：酒店参会客户满意度达9.86，体验主要由会展服务和配套服务的满分表现支撑，硬件设施相对偏弱，尤其在标识标牌、会议厅室匹配性及休息空间上仍有提升空间。</a:t>
            </a:r>
          </a:p>
          <a:p>
            <a:r>
              <a:t>亮点：酒店参会客户对工作人员形象、技能、态度以及接待引导、茶歇、安保、保洁均给出10分，服务触点表现集中且稳定。</a:t>
            </a:r>
          </a:p>
          <a:p>
            <a:r>
              <a:t>关注点：酒店参会客户对硬件设施的评价低于其他板块，其中标识标牌清晰、会议厅室匹配性和休息空间是当前较弱环节。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总体判断：酒店餐饮客户满意度达到9.6，整体体验主要由餐饮服务支撑，硬件设施相对偏弱，园区停车便利性与菜品口味品相仍有提升空间。</a:t>
            </a:r>
          </a:p>
          <a:p>
            <a:r>
              <a:t>亮点：酒店餐饮客户对菜品温度、菜肴品种、供应速度、就餐卫生及工作人员服务品质评价集中在满分，餐饮环节表现较稳。</a:t>
            </a:r>
          </a:p>
          <a:p>
            <a:r>
              <a:t>关注点：硬件设施满意度为9.35，其中园区停车方便仅8分，为各项最低；餐饮侧需继续关注菜品口味品相。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8255" imgH="8255" progId="TCLayout.ActiveDocument.1">
                  <p:embed/>
                </p:oleObj>
              </mc:Choice>
              <mc:Fallback>
                <p:oleObj name="think-cell 幻灯片" r:id="rId3" imgW="8255" imgH="8255" progId="TCLayout.ActiveDocument.1">
                  <p:embed/>
                  <p:pic>
                    <p:nvPicPr>
                      <p:cNvPr id="0" name="图片 20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689103"/>
            <a:ext cx="65659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73099" y="1120776"/>
            <a:ext cx="6565901" cy="2048122"/>
          </a:xfrm>
        </p:spPr>
        <p:txBody>
          <a:bodyPr vert="horz"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 rot="20346747">
            <a:off x="3618610" y="3906838"/>
            <a:ext cx="77141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 spc="12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099" y="732429"/>
            <a:ext cx="1084580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12" b="431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1" name="直接连接符 4"/>
            <p:cNvCxnSpPr/>
            <p:nvPr userDrawn="1"/>
          </p:nvCxnSpPr>
          <p:spPr>
            <a:xfrm flipV="1">
              <a:off x="0" y="2695575"/>
              <a:ext cx="1492143" cy="1466850"/>
            </a:xfrm>
            <a:prstGeom prst="line">
              <a:avLst/>
            </a:prstGeom>
            <a:ln w="22225" cap="rnd">
              <a:solidFill>
                <a:schemeClr val="bg1">
                  <a:lumMod val="85000"/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386407" y="342900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387523" y="432435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12" b="431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0487" y="214181"/>
            <a:ext cx="412732" cy="6003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949945" y="1135063"/>
            <a:ext cx="5816598" cy="3667996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949946" y="5823229"/>
            <a:ext cx="5816598" cy="314046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949948" y="5526958"/>
            <a:ext cx="5816598" cy="299297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8255" imgH="8255" progId="TCLayout.ActiveDocument.1">
                  <p:embed/>
                </p:oleObj>
              </mc:Choice>
              <mc:Fallback>
                <p:oleObj name="think-cell 幻灯片" r:id="rId11" imgW="8255" imgH="8255" progId="TCLayout.ActiveDocument.1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会展类客户满意度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/02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展览主承办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设备租赁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895655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总体判断：展览主承办总体满意度为9.61，体验主要由会展服务高分支撑，现场协调、服务效率、报馆流程等执行环节表现稳定；相对偏弱集中在硬件设施与部分配套服务。</a:t>
            </a:r>
          </a:p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亮点：展览主承办对会展服务评价突出，会展服务达9.91，现场对接协调沟通、服务效率、工作人员服务与业务技能、报馆流程等多项达到10分。</a:t>
            </a:r>
          </a:p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关注点：展览主承办在硬件设施上的感受偏弱，标识标牌清晰、交通便利与展厅使用情况分值靠后；配套服务中餐饮服务仅8.83，也需优先关注。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参展商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会场服务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7589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总体判断：参展商满意度为9.49，体验基础主要由会场服务支撑，工作人员态度、仪容及业务技能评价靠前；相较之下，硬件设施和配套服务承接力偏弱。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关注点：参展商对餐饮服务评价最低，其次为客房服务；同时，停车便利、标识标牌、设施设备和展厅使用相关感受仍有提升空间。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专业观众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展会路线安排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0947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总体判断：专业观众满意度由会展服务满分支撑，工作人员仪容、态度和业务技能表现稳定；相较之下，硬件设施与配套服务偏弱，路线安排、标识标牌、展厅使用和餐饮服务拉开差距。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关注点：专业观众到场后的动线与基础配套体验不如服务端突出，餐饮服务8分，展会路线安排8.92分、展厅使用8.94分、标识标牌9.09分，宜优先关注找路、用餐和观展便利性。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会展服务商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工程设备服务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园区停车便利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快递物流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84256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总体判断：会展服务商满意度达9.9，高分主要由会展服务与配套服务支撑，现场沟通、响应效率、服务态度及整体配合均获满分，体验稳定性较强。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亮点：会展服务商对配套服务评价最集中，餐饮、安保、保洁均为10分；报馆、撤展、展后回访及在线服务渠道表现也较完整。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关注点：相对偏弱环节集中在现场布置与搭建、设施设备齐全，以及工程设备服务、货运通道等执行与保障相关触点，需持续关注服务交付的一致性。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茶歇服务与品质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撤会服务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50674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总体判断：会议主承办满意度为9.74，体验主要由会展服务各项满分支撑，配套服务同样稳健；相较之下，硬件设施为相对偏弱环节。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亮点：会议主承办对销售、现场协同、流程服务及会后回访评价集中在满分，会务执行与协同配合认可度突出。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关注点：会议主承办在园区停车方便、交通流线、标识标牌清晰度及会议厅室匹配便利性上的评价低于其他环节，硬件到达与动线体验仍有提升空间。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参会人员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907419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14000"/>
              </a:lnSpc>
              <a:spcAft>
                <a:spcPts val="526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总体判断：参会人员满意度为9.67，体验基础主要来自会展服务与配套服务的稳定表现，工作人员形象、技能和服务态度均获满分；相较之下，硬件设施仍是参会人员体验中的相对偏弱环节。</a:t>
            </a:r>
          </a:p>
          <a:p>
            <a:pPr algn="l" indent="355600">
              <a:lnSpc>
                <a:spcPct val="114000"/>
              </a:lnSpc>
              <a:spcAft>
                <a:spcPts val="526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亮点：参会人员对会展服务评价最为集中，安保、保洁及工作人员相关触点均达到10分，茶歇服务也维持较好水准。</a:t>
            </a:r>
          </a:p>
          <a:p>
            <a:pPr algn="l" indent="355600">
              <a:lnSpc>
                <a:spcPct val="114000"/>
              </a:lnSpc>
              <a:spcAft>
                <a:spcPts val="526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关注点：参会人员对园区停车方便、标识标牌清晰、会议厅室匹配性及餐饮服务的评分相对靠后，需优先关注到达指引、场地适配和用餐体验。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餐饮类客户满意度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/03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商务简餐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菜品分量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0947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总体判断：商务简餐满意度为9.55，体验主要由餐饮服务支撑，工作人员服务品质、供应速度、菜品温度与卫生表现稳健；相较之下，硬件设施为相对偏弱环节。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关注点：商务简餐的短板集中在到达与现场导引体验，标识标牌清晰度得分最低，园区停车方便和交通便利性也处于偏弱区间，需优先关注客户进场与找寻路径。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特色美食廊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菜品口味口相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菜肴份量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0947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总体判断：特色美食廊满意度为9.18，体验主要由工作人员服务品质、菜肴份量和就餐区域卫生支撑，餐饮服务略好于硬件设施，但菜肴相关感受与到店动线识别相对偏弱。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关注点：特色美食廊的菜品口味口相、地方特色、菜肴品质均处于低位，标识标牌清晰度和园区停车方便性也有提升空间，需优先关注顾客对出品吸引力和到达便利性的直接感受。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餐饮客户——婚宴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婚宴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婚宴茶歇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餐饮客户——婚宴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7589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总体判断：婚宴满意度为9.43，体验主要由餐饮服务支撑，菜品口味品相、供应速度、服务态度与业务技能评价突出；硬件设施相对偏弱，拉开差距。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关注点：婚宴的弱势项集中在到达与现场导引，其中园区停车方便评分仅7分，标识标牌清晰度也偏低；就餐区域温度在餐饮服务中相对靠后，仍有提升空间。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自助餐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菜品口味口相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094733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总体判断：自助餐满意度为9.31，体验主要由餐饮服务支撑，菜肴品种、供应速度、接待指引和工作人员服务品质表现较好；相较之下，硬件设施感受偏弱，菜品口味口相和地方特色也有提升空间。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关注点：自助餐当前分值较低的环节集中在园区停车方便、菜品口味口相和标识标牌清晰，硬件设施相关体验需优先关注。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餐饮客户——宴会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餐饮客户——宴会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895655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总体判断：宴会满意度达9.78，体验主要由餐饮服务支撑，菜品温度、品种、供应速度、环境卫生及服务品质均获满分；相较之下，硬件设施感知略弱，尤其交通到达与标识清晰度仍有提升空间。</a:t>
            </a:r>
          </a:p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亮点：宴会餐饮服务表现稳定，多个关键接触点获10分，菜品地方特色和视听设备评价也处于较高水平。</a:t>
            </a:r>
          </a:p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关注点：宴会硬件设施中，标识标牌清晰度9.3、交通便利易到达9.4，均低于其他主要接触点，建议作为优先关注环节。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酒店客户满意度及酒店暗访评分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/05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散客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适合商务旅行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客房整体环境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住宿用品质量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客房私密性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礼宾服务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入住登记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离店退房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自助早餐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自助晚餐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送餐服务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零点服务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84256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总体判断：散客满意度处于较优水平，体验主要由入住服务、餐饮服务及客房环境与用品表现共同支撑，硬件设施中的到达指引与停车便利性相对偏弱。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亮点：散客对入住登记、客房服务、离店退房及餐饮服务评价集中在满分，服务触点稳定，客房私密性和设施设备认可度也较高。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关注点：散客对园区停车方便、标识标牌清晰和交通便利的评价低于其他细项，硬件端的到店动线与指引体验仍有提升空间。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酒店参会客户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895655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总体判断：酒店参会客户满意度达9.86，体验主要由会展服务和配套服务的满分表现支撑，硬件设施相对偏弱，尤其在标识标牌、会议厅室匹配性及休息空间上仍有提升空间。</a:t>
            </a:r>
          </a:p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亮点：酒店参会客户对工作人员形象、技能、态度以及接待引导、茶歇、安保、保洁均给出10分，服务触点表现集中且稳定。</a:t>
            </a:r>
          </a:p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关注点：酒店参会客户对硬件设施的评价低于其他板块，其中标识标牌清晰、会议厅室匹配性和休息空间是当前较弱环节。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酒店餐饮客户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菜品口味口相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菜品分量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50674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总体判断：酒店餐饮客户满意度达到9.6，整体体验主要由餐饮服务支撑，硬件设施相对偏弱，园区停车便利性与菜品口味品相仍有提升空间。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亮点：酒店餐饮客户对菜品温度、菜肴品种、供应速度、就餐卫生及工作人员服务品质评价集中在满分，餐饮环节表现较稳。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关注点：硬件设施满意度为9.35，其中园区停车方便仅8分，为各项最低；餐饮侧需继续关注菜品口味品相。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139e2a88-c592-4b5f-9711-ddb123b4f82c"/>
  <p:tag name="ISLIDE.TEMPLATE" val="#418440"/>
  <p:tag name="THINKCELLUNDODONOTDELETE" val="0"/>
  <p:tag name="COMMONDATA" val="eyJoZGlkIjoiODBlOWQwN2ZjNDU2Y2MzMGMzMjc5ZTMyYjVjMGM0YzcifQ=="/>
  <p:tag name="RESOURCE_RECORD_KEY" val="{&quot;10&quot;:[20253784],&quot;65&quot;:[20235185],&quot;70&quot;:[3322390,332245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3_主题5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B2648"/>
      </a:accent1>
      <a:accent2>
        <a:srgbClr val="26BB99"/>
      </a:accent2>
      <a:accent3>
        <a:srgbClr val="9098A6"/>
      </a:accent3>
      <a:accent4>
        <a:srgbClr val="908992"/>
      </a:accent4>
      <a:accent5>
        <a:srgbClr val="5B5E71"/>
      </a:accent5>
      <a:accent6>
        <a:srgbClr val="838584"/>
      </a:accent6>
      <a:hlink>
        <a:srgbClr val="C92523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Mila</Template>
  <TotalTime>289</TotalTime>
  <Words>7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Calibri</vt:lpstr>
      <vt:lpstr>等线</vt:lpstr>
      <vt:lpstr>Arial</vt:lpstr>
      <vt:lpstr>3_主题5</vt:lpstr>
      <vt:lpstr>think-cell 幻灯片</vt:lpstr>
      <vt:lpstr>项目执行情况—样本收集情况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Mila</dc:creator>
  <cp:lastModifiedBy>张奇进</cp:lastModifiedBy>
  <cp:revision>1466</cp:revision>
  <cp:lastPrinted>2020-04-29T16:00:00Z</cp:lastPrinted>
  <dcterms:created xsi:type="dcterms:W3CDTF">2020-04-29T16:00:00Z</dcterms:created>
  <dcterms:modified xsi:type="dcterms:W3CDTF">2026-04-08T15:59:48Z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4244D058C3234304A8CAFD4066DC7AD4_13</vt:lpwstr>
  </property>
  <property fmtid="{D5CDD505-2E9C-101B-9397-08002B2CF9AE}" pid="4" name="KSOProductBuildVer">
    <vt:lpwstr>2052-12.1.0.25225</vt:lpwstr>
  </property>
</Properties>
</file>