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总体判断：展览主承办满意度9.69分，体验由会展服务、智慧场馆支撑，硬件设施相对偏弱，餐饮为单项弱势。</a:t>
            </a:r>
          </a:p>
          <a:p>
            <a:r>
              <a:t>亮点：智慧场馆两项系统均获10分，展厅使用获9.9分。</a:t>
            </a:r>
          </a:p>
          <a:p>
            <a:r>
              <a:t>关注点：餐饮服务仅9.06分；交通可达性、货运通道分别为9.33分、9.37分，均为硬件设施中的重点提升项。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总体判断：参展商体验以会场服务为支撑，硬件设施与智慧场馆相对偏弱，总体满意度9.68分。</a:t>
            </a:r>
          </a:p>
          <a:p>
            <a:r>
              <a:t>亮点：会场服务9.91分，保洁、安保及参展环境均不低于9.94分。</a:t>
            </a:r>
          </a:p>
          <a:p>
            <a:r>
              <a:t>关注点：室内导航、停车得分偏低；杭州国博APP、餐饮满意度分别低于重要性0.40分、0.37分。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总体判断：专业观众的体验优势集中于会展服务，总体满意度9.77分；硬件设施相对偏弱，餐饮服务仍有提升空间。</a:t>
            </a:r>
          </a:p>
          <a:p>
            <a:r>
              <a:t>亮点：人员服务与接待引导均获10分，参展环境达9.97分。</a:t>
            </a:r>
          </a:p>
          <a:p>
            <a:r>
              <a:t>关注点：餐饮、路线安排与标识标牌得分居后，分别为9.22、9.31和9.34分，宜优先关注。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总体判断：会展服务商满意度9.86分，会展服务构成主要支撑，硬件设施与配套服务相对偏弱。</a:t>
            </a:r>
          </a:p>
          <a:p>
            <a:r>
              <a:t>亮点：现场布置与搭建获10分，客房、安保及保洁服务均为10分。</a:t>
            </a:r>
          </a:p>
          <a:p>
            <a:r>
              <a:t>关注点：设施设备齐全度满意度9.48分、重要性10分，需优先关注；餐饮服务9.42分，为各项最低。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总体判断：会议主承办体验主要由会展服务（9.92分）支撑，总体满意度9.78分，硬件设施相对偏弱。</a:t>
            </a:r>
          </a:p>
          <a:p>
            <a:r>
              <a:t>亮点：销售经理服务、现场协调沟通及会后回访均获10分，会议厅室匹配性与AV效果同获满分。</a:t>
            </a:r>
          </a:p>
          <a:p>
            <a:r>
              <a:t>关注点：交通便利性仅9.25分，低于其重要性10分；餐饮服务9.01分，为各项最低。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总体判断：参会人员满意度9.83分，会展服务与配套服务构成体验基础，硬件设施相对偏弱。</a:t>
            </a:r>
          </a:p>
          <a:p>
            <a:r>
              <a:t>亮点：人员服务与茶歇均获10分，AV效果、安保和保洁同获满分。</a:t>
            </a:r>
          </a:p>
          <a:p>
            <a:r>
              <a:t>关注点：停车便利性8.83分、标识清晰度9.35分，为主要弱势项；会议厅室匹配性与方便性仍有提升空间。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总体判断：商务简餐以餐饮服务（9.72分）支撑体验，人员服务与供应速度表现较好；总体满意度9.53分，硬件设施（9.17分）相对偏弱。</a:t>
            </a:r>
          </a:p>
          <a:p>
            <a:r>
              <a:t>关注点：停车便利与标识清晰度分别为8.92分、9.16分，较各自重要性低0.63分、0.41分，是需优先改善的环节。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总体判断：特色美食廊满意度9.61分，智慧场馆、就餐区域温度与卫生构成体验优势，餐饮服务和硬件设施相对偏弱。</a:t>
            </a:r>
          </a:p>
          <a:p>
            <a:r>
              <a:t>亮点：智慧场馆及其两项细分指标均获10分。</a:t>
            </a:r>
          </a:p>
          <a:p>
            <a:r>
              <a:t>关注点：菜品口味品相8.98分，为最低项；停车便利满意度低于重要性0.26分，差距在有效指标中最大。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总体判断：自助餐体验以供餐速度、接待指引及就餐环境为主要支撑，餐饮服务9.82分；总体满意度9.40分，硬件设施8.97分，相对偏弱。</a:t>
            </a:r>
          </a:p>
          <a:p>
            <a:r>
              <a:t>关注点：停车便利性8.74分、标识清晰度8.93分，为主要弱势项；菜肴品种满意度较重要性低0.52分，仍有提升空间。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总体判断：宴会满意度9.98分，餐饮服务与硬件设施共同构成体验基础，供餐速度及标识清晰度相对偏弱。</a:t>
            </a:r>
          </a:p>
          <a:p>
            <a:r>
              <a:t>亮点：菜品温度、口味品相、人员服务及视听设备均获10分。</a:t>
            </a:r>
          </a:p>
          <a:p>
            <a:r>
              <a:t>关注点：供餐速度、标识清晰度均为9.91分，虽与满分差距较小，仍可作为精细化提升的优先切入点。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总体判断：游客体验以旅游服务、硬件设施为主要支撑，满意度分别为9.97、9.98分；智慧服务相对偏弱，总体满意度9.75分。</a:t>
            </a:r>
          </a:p>
          <a:p>
            <a:r>
              <a:t>亮点：讲解人员专业性、环境卫生均获10分。</a:t>
            </a:r>
          </a:p>
          <a:p>
            <a:r>
              <a:t>关注点：自助售卖满意度8分，低于其重要性评分1分，应列为游客体验优先改善环节。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总体判断：旅行社工作人员满意度9.9分，旅游服务与智慧服务构成体验优势，硬件设施相对偏弱。</a:t>
            </a:r>
          </a:p>
          <a:p>
            <a:r>
              <a:t>亮点：旅游服务、智慧服务均获10分，停车便利性也获满分。</a:t>
            </a:r>
          </a:p>
          <a:p>
            <a:r>
              <a:t>关注点：标识标牌清晰度9.65分，为最低分项，低于其重要性0.35分，建议优先核查导向标识的清晰度。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总体判断：散客满意度9.78分，餐饮服务与客房体验构成主要支撑，停车便利、入住登记相对偏弱。</a:t>
            </a:r>
          </a:p>
          <a:p>
            <a:r>
              <a:t>亮点：礼宾服务、工作人员仪容仪表及自助晚餐均获10分。</a:t>
            </a:r>
          </a:p>
          <a:p>
            <a:r>
              <a:t>关注点：停车便利8.67分，为最低项；入住登记9.30分，两项分别低于重要性0.77、0.47分，宜优先核查具体问题。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总体判断：住宿团队满意度9.73分，客房硬件与入住服务构成体验基础，餐饮及到达环节相对偏弱。</a:t>
            </a:r>
          </a:p>
          <a:p>
            <a:r>
              <a:t>亮点：入住服务各项均获10分，客房设施设备、住宿用品质量及私密性均为满分。</a:t>
            </a:r>
          </a:p>
          <a:p>
            <a:r>
              <a:t>关注点：送餐服务、标识标牌满意度分别低于重要性1分、0.62分；停车便利性8.5分，为最低项。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总体判断：酒店参会客户体验主要由会展服务与配套服务支撑，总体满意度9.95分，硬件设施相对偏弱。</a:t>
            </a:r>
          </a:p>
          <a:p>
            <a:r>
              <a:t>亮点：会展服务各项均获10分，餐饮、安保及保洁服务均为满分。</a:t>
            </a:r>
          </a:p>
          <a:p>
            <a:r>
              <a:t>关注点：标识标牌清晰度9.42分，为各项最低，宜优先核查；设施设备齐全度9.84分，较重要性低0.16分。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总体判断：酒店会议主承办满意度9.94分，配套服务满分支撑体验，会展服务与硬件设施中的个别环节相对偏弱。</a:t>
            </a:r>
          </a:p>
          <a:p>
            <a:r>
              <a:t>亮点：销售服务、现场协调与服务响应均获10分。</a:t>
            </a:r>
          </a:p>
          <a:p>
            <a:r>
              <a:t>关注点：工程设施设备9.48分，低于重要性0.52分；休息空间9.24分为最低项，撤会服务9.52分亦有提升空间。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总体判断：酒店餐饮客户满意度9.66分，体验以餐饮服务为主要支撑，硬件设施相对偏弱。</a:t>
            </a:r>
          </a:p>
          <a:p>
            <a:r>
              <a:t>亮点：菜品温度、接待指引及宴会视听设备均获10分。</a:t>
            </a:r>
          </a:p>
          <a:p>
            <a:r>
              <a:t>关注点：停车便利度9分，为最低项；交通便利度与菜品地方特色分别为9.29分、9.44分，低于各自重要性0.49分、0.41分。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总体判断：展览主承办满意度9.69分，体验由会展服务、智慧场馆支撑，硬件设施相对偏弱，餐饮为单项弱势。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亮点：智慧场馆两项系统均获10分，展厅使用获9.9分。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关注点：餐饮服务仅9.06分；交通可达性、货运通道分别为9.33分、9.37分，均为硬件设施中的重点提升项。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总体判断：参展商体验以会场服务为支撑，硬件设施与智慧场馆相对偏弱，总体满意度9.68分。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亮点：会场服务9.91分，保洁、安保及参展环境均不低于9.94分。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关注点：室内导航、停车得分偏低；杭州国博APP、餐饮满意度分别低于重要性0.40分、0.37分。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总体判断：专业观众的体验优势集中于会展服务，总体满意度9.77分；硬件设施相对偏弱，餐饮服务仍有提升空间。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亮点：人员服务与接待引导均获10分，参展环境达9.97分。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关注点：餐饮、路线安排与标识标牌得分居后，分别为9.22、9.31和9.34分，宜优先关注。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总体判断：会展服务商满意度9.86分，会展服务构成主要支撑，硬件设施与配套服务相对偏弱。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亮点：现场布置与搭建获10分，客房、安保及保洁服务均为10分。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关注点：设施设备齐全度满意度9.48分、重要性10分，需优先关注；餐饮服务9.42分，为各项最低。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总体判断：会议主承办体验主要由会展服务（9.92分）支撑，总体满意度9.78分，硬件设施相对偏弱。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亮点：销售经理服务、现场协调沟通及会后回访均获10分，会议厅室匹配性与AV效果同获满分。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关注点：交通便利性仅9.25分，低于其重要性10分；餐饮服务9.01分，为各项最低。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总体判断：参会人员满意度9.83分，会展服务与配套服务构成体验基础，硬件设施相对偏弱。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亮点：人员服务与茶歇均获10分，AV效果、安保和保洁同获满分。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关注点：停车便利性8.83分、标识清晰度9.35分，为主要弱势项；会议厅室匹配性与方便性仍有提升空间。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总体判断：商务简餐以餐饮服务（9.72分）支撑体验，人员服务与供应速度表现较好；总体满意度9.53分，硬件设施（9.17分）相对偏弱。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关注点：停车便利与标识清晰度分别为8.92分、9.16分，较各自重要性低0.63分、0.41分，是需优先改善的环节。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总体判断：特色美食廊满意度9.61分，智慧场馆、就餐区域温度与卫生构成体验优势，餐饮服务和硬件设施相对偏弱。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亮点：智慧场馆及其两项细分指标均获10分。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关注点：菜品口味品相8.98分，为最低项；停车便利满意度低于重要性0.26分，差距在有效指标中最大。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总体判断：自助餐体验以供餐速度、接待指引及就餐环境为主要支撑，餐饮服务9.82分；总体满意度9.40分，硬件设施8.97分，相对偏弱。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关注点：停车便利性8.74分、标识清晰度8.93分，为主要弱势项；菜肴品种满意度较重要性低0.52分，仍有提升空间。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总体判断：宴会满意度9.98分，餐饮服务与硬件设施共同构成体验基础，供餐速度及标识清晰度相对偏弱。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亮点：菜品温度、口味品相、人员服务及视听设备均获10分。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关注点：供餐速度、标识清晰度均为9.91分，虽与满分差距较小，仍可作为精细化提升的优先切入点。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游客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自助售卖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总体判断：游客体验以旅游服务、硬件设施为主要支撑，满意度分别为9.97、9.98分；智慧服务相对偏弱，总体满意度9.75分。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亮点：讲解人员专业性、环境卫生均获10分。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关注点：自助售卖满意度8分，低于其重要性评分1分，应列为游客体验优先改善环节。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旅行社工作人员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语音导览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自助售卖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线上商城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总体判断：旅行社工作人员满意度9.9分，旅游服务与智慧服务构成体验优势，硬件设施相对偏弱。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亮点：旅游服务、智慧服务均获10分，停车便利性也获满分。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关注点：标识标牌清晰度9.65分，为最低分项，低于其重要性0.35分，建议优先核查导向标识的清晰度。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散客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总体判断：散客满意度9.78分，餐饮服务与客房体验构成主要支撑，停车便利、入住登记相对偏弱。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亮点：礼宾服务、工作人员仪容仪表及自助晚餐均获10分。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关注点：停车便利8.67分，为最低项；入住登记9.30分，两项分别低于重要性0.77、0.47分，宜优先核查具体问题。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住宿团队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总体判断：住宿团队满意度9.73分，客房硬件与入住服务构成体验基础，餐饮及到达环节相对偏弱。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亮点：入住服务各项均获10分，客房设施设备、住宿用品质量及私密性均为满分。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关注点：送餐服务、标识标牌满意度分别低于重要性1分、0.62分；停车便利性8.5分，为最低项。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酒店参会客户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总体判断：酒店参会客户体验主要由会展服务与配套服务支撑，总体满意度9.95分，硬件设施相对偏弱。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亮点：会展服务各项均获10分，餐饮、安保及保洁服务均为满分。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关注点：标识标牌清晰度9.42分，为各项最低，宜优先核查；设施设备齐全度9.84分，较重要性低0.16分。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总体判断：酒店会议主承办满意度9.94分，配套服务满分支撑体验，会展服务与硬件设施中的个别环节相对偏弱。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亮点：销售服务、现场协调与服务响应均获10分。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关注点：工程设施设备9.48分，低于重要性0.52分；休息空间9.24分为最低项，撤会服务9.52分亦有提升空间。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总体判断：酒店餐饮客户满意度9.66分，体验以餐饮服务为主要支撑，硬件设施相对偏弱。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亮点：菜品温度、接待指引及宴会视听设备均获10分。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关注点：停车便利度9分，为最低项；交通便利度与菜品地方特色分别为9.29分、9.44分，低于各自重要性0.49分、0.41分。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