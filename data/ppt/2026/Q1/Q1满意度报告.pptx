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5" r:id="rId1"/>
  </p:sldMasterIdLst>
  <p:notesMasterIdLst>
    <p:notesMasterId r:id="rId40"/>
  </p:notesMasterIdLst>
  <p:handoutMasterIdLst>
    <p:handoutMasterId r:id="rId4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embeddedFontLst>
    <p:embeddedFont>
      <p:font typeface="等线" panose="02010600030101010101" pitchFamily="2" charset="-122"/>
      <p:regular r:id="rId42"/>
      <p:bold r:id="rId43"/>
    </p:embeddedFont>
    <p:embeddedFont>
      <p:font typeface="Impact" panose="020B0806030902050204" pitchFamily="34" charset="0"/>
      <p:regular r:id="rId44"/>
    </p:embeddedFont>
  </p:embeddedFontLst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F26B43"/>
          </p15:clr>
        </p15:guide>
        <p15:guide id="3" orient="horz" pos="22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DELL" initials="D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2648"/>
    <a:srgbClr val="BB2647"/>
    <a:srgbClr val="F3E8E9"/>
    <a:srgbClr val="ECA0B1"/>
    <a:srgbClr val="F7F9FD"/>
    <a:srgbClr val="F9E9EC"/>
    <a:srgbClr val="DE9BA4"/>
    <a:srgbClr val="A40000"/>
    <a:srgbClr val="BD374A"/>
    <a:srgbClr val="EB40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91" autoAdjust="0"/>
    <p:restoredTop sz="92000" autoAdjust="0"/>
  </p:normalViewPr>
  <p:slideViewPr>
    <p:cSldViewPr snapToGrid="0" showGuides="1">
      <p:cViewPr varScale="1">
        <p:scale>
          <a:sx n="176" d="100"/>
          <a:sy n="176" d="100"/>
        </p:scale>
        <p:origin x="1584" y="200"/>
      </p:cViewPr>
      <p:guideLst>
        <p:guide pos="3839"/>
        <p:guide orient="horz" pos="22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04" y="9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展览活动主承办客户满意度维持高位，整体为9.29，客户体验基础较稳。分板块看，会展服务表现最优，满意度达9.86，销售经理服务态度、业务能力、现场协调沟通与服务效率均为满分，工作人员服务态度、业务技能、报馆流程、在线渠道、展后回访及整体协同等环节也保持较高水平，服务端支撑较为扎实。相较之下，短板主要集中在硬件设施、配套服务和智慧场馆，其中硬件设施下的展厅使用情况、设施设备齐全度、标识标牌清晰度相对偏弱，配套服务中的餐饮服务得分不高；智慧场馆板块整体仅8.50，寻车系统、云上看馆及室内导航系统与客户关注重点之间仍有提升空间，后续可优先围绕上述触点持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参展商整体满意度维持高位，综合得分为9.58，整体服务表现较稳。分项中，会场服务表现最为突出，得分9.88，工作人员服务态度、业务技能均达到10分，仪容仪表为9.98，体现出一线服务执行较强；配套服务得分9.70，安保、保洁均为10分，支撑性较好。相较之下，硬件设施为9.15，是当前相对偏弱的环节，短板主要集中在园区停车方便（8.00）、标识标牌清晰（9.09）和展厅使用情况（9.03），与满分预期仍有一定差距；此外，餐饮服务9.09、现场布置与搭建9.55、交通便利9.50，也属于后续可持续优化的关注点。整体来看，参展商体验优势主要集中在人员服务与基础保障，后续需重点关注硬件便利性及现场配套体验的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专业观众满意度整体维持高位，但结构分化较为明显。会展服务表现最为突出，满意度接近满分，其中接待引导服务达到满分，工作人员仪容仪表、服务态度和业务技能均保持在9.95分以上，服务端优势较为稳固。硬件设施处于中上水平，参展环境和交通便利性评价较好，但园区停车方便、展会路线安排、展厅使用情况和标识标牌清晰度相对偏弱，其中园区停车方便得分最低，仅为8.08分，与客户关注度之间存在较明显差距。配套服务整体弱于前两项，安保服务和保洁服务评价突出，均达9.97分，但餐饮服务得分为8.88分，客房服务为7分，成为当前配套体验中的主要短板。后续可优先围绕停车、动线标识、餐饮及客房相关触点持续跟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会展服务商整体满意度维持高位，服务端表现尤为突出，会展服务达到9.93，配套服务为9.71，均高于总体水平。现场对接协调沟通、服务效率、服务态度、业务技能、报馆流程、工程设备、整体协调配合及服务响应等核心触点均获满分，体现出前场服务稳定、协同顺畅。配套服务中，安保与保洁评价较好，餐饮服务相对偏弱。硬件设施得分为9.41，低于其他板块，是当前短板相对集中的环节，其中休息空间8.88为最低，货运通道、设施设备齐全均为9.13，交通流线和园区停车便利均为9.38，标识标牌清晰为9.63；同时，餐饮服务、货运通道、设施设备、交通流线、园区停车等项目满意度与重要性之间存在一定差距，后续需重点关注硬件承载与基础配套体验的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会议活动主（承）办客户整体满意度维持高位，服务表现优于硬件与配套，整体体验较为稳定。会展服务为最突出板块，现场对接协调沟通、服务效率、工作人员仪容仪表和服务态度均处于高分水平，销售经理服务、报馆流程、工程设施设备、撤会服务等环节也保持较好表现，体现出前中后台协同较顺畅。配套服务整体表现较好，其中客房服务、保洁服务评价突出，安保服务稳定；餐饮服务相对偏弱。硬件设施是当前短板相对集中的板块，标识标牌清晰度得分最低，设施设备齐全度、休息空间、交通流线等环节也低于整体水平。结合满意度与关注度差异看，标识标牌清晰、设施设备齐全，以及会后回访、整体协调和配合、服务响应及时性等项目仍有提升空间，后续宜作为优先关注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参会客户整体满意度维持高位，综合评分为9.79，整体服务基础较为稳固。分项来看，会展服务表现最优，达到9.99，工作人员仪容仪表、业务技能、服务态度及接待引导均获满分，茶歇服务品质也保持较高水准，体现出前端服务交付较为成熟。配套服务处于较好水平，安保、保洁均为满分，客房服务评价较高，但餐饮服务相对偏弱，仍有提升空间。硬件设施是当前相对短板，满意度为9.56，其中AV效果、参会环境和休息空间评价较好，但园区停车方便、标识标牌清晰、会议厅室匹配性等指标得分相对靠后，与重要性之间存在更明显差距，后续宜优先关注参会动线与到场体验相关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商务简餐整体满意度为9.54分，维持较高水平，客户体验总体稳定。分项表现中，餐饮服务满意度达到9.94分，是当前业务的主要支撑项，菜品温度、菜品卫生、工作人员服务品质均为10分，菜品分量、供应速度、就餐区域卫生也保持在9.93分及以上，体现出出品质量、服务执行和基础环境管理整体表现较好。相较之下，硬件设施满意度为9.14分，明显低于整体水平，是当前体验中的相对短板。具体来看，交通便利、容易到达得分9.8分，保持较好水准，但园区停车方便仅为8.2分，为全部指标中的最低项；标识标牌清晰为9.42分，也低于整体平均水平。结合满意度与重要性差异看，客户对各项体验普遍赋予较高关注，当前优势集中在餐饮服务本身，短板则主要集中于到场后的配套便利性与导引体验，后续需优先关注停车与现场标识相关环节，以减少对整体评价的拖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特色美食廊客户满意度维持高位，总体得分9.1，整体体验较为稳定。其中，餐饮服务表现优于硬件设施，服务端亮点较为集中：工作人员服务品质获满分，就餐区域卫生接近满分，菜肴份量和就餐区域温度均处于较高水平，构成当前体验的主要支撑项。相较之下，硬件设施得分略低，短板集中在到店与识别相关环节，园区停车方便、标识标牌清晰的评价相对靠后。餐饮服务内部也存在结构性差异，菜品口味口相、菜品地方特色和菜肴品质得分低于服务表现，其中口味口相和地方特色为当前相对偏弱项。结合满意度与重要性差异看，口味口相、地方特色、停车便利及标识清晰度与客户期待之间仍有提升空间，后续宜优先围绕菜品体验及到店动线相关触点持续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婚宴客户满意度整体维持高位，总体评价为9.16，服务端表现好于硬件端，当前体验短板主要集中在菜品感知与到场配套两个环节。餐饮服务满意度为9.38，在各模块中表现较优，其中工作人员业务技能、服务态度、仪容仪表，以及就餐区域卫生、菜品供应速度、婚宴茶歇等项目评价较高，体现出现场服务执行较稳定、基础服务保障较到位。相对来看，菜品口味品相、菜品地方特色、菜品温度以及接待指引、就餐区域温度处于中低位，尤其菜品口味品相和地方特色分值偏低，且与客户关注重点之间存在一定差距，后续需重点关注婚宴餐饮体验的核心感知。硬件设施满意度为8.94，低于整体水平，其中宴会视听设备和交通便利性表现较好，但园区停车方便、标识标牌清晰度相对偏弱，成为影响到场与动线体验的主要薄弱点。整体看，婚宴服务基础较稳，后续优化重点应聚焦“菜品体验提升”和“到场导引便利性改善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自助餐客户满意度整体维持高位，总体得分9.51，服务体验表现明显优于硬件设施，短板相对集中且指向清晰。餐饮服务得分9.91，处于较高水平，其中菜肴品种、菜品供应速度、接待指引、工作人员服务品质、就餐区域温度及卫生均获10分，构成当前体验的主要支撑项；菜品口味口相9.7分、菜品地方特色9.6分，也保持良好水准。相比之下，硬件设施得分9.1，为主要承压环节，其中交通便利和标识标牌清晰分别为9.6分和9.7分，整体尚稳，但园区停车方便仅8分，与整体及其他指标存在较明显差距，是当前满意度提升空间最集中的单项。后续在保持餐饮服务优势的同时，需优先关注到达与停车相关体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宴会客户满意度整体维持高位，总体得分9.78，客户体验基础较为稳固。其中，餐饮服务表现突出，得分9.94，菜品温度、菜肴品种、供应速度、接待指引、就餐区域卫生及工作人员服务品质均达到满分，构成当前宴会体验的主要支撑项；菜品地方特色、就餐区域温度及菜品口味品相也保持较高水平。相较之下，硬件设施得分9.61，成为当前体验中的相对薄弱环节，短板主要集中在园区停车方便、标识标牌清晰及交通便利、容易到达等到场与动线相关触点，其中园区停车方便得分最低，为9.25。结合满意度与客户关注度看，后续宜优先围绕到达便利性、停车组织及导视清晰度持续优化，以降低外围体验对整体宴会感受的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满意度维持高位，G20峰会体验馆游客总体满意度为9.81，整体体验较好。分项看，旅游服务表现更优，满意度为9.92，其中景点设施、环境卫生、安全服务、工作人员仪容仪表、工作人员服务态度及讲解人员专业性均达到10分，构成当前体验感知的主要支撑点；硬件设施满意度为9.70，整体仍处较高水平，但相较旅游服务略有承压。具体指标中，园区停车方便达到10分，交通便利、容易到达为9.78，均保持良好表现；相对偏弱的环节主要集中在售票/销售服务和标识标牌清晰，满意度分别为9.43和9.33，与满分重要性相比存在一定差距，是当前更值得优先关注的改善点。整体来看，场馆核心接待与现场服务优势较为稳固，后续可围绕游客入园前后触点持续优化，以进一步提升整体体验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整体满意度维持高位，旅行社工作人员对G20峰会体验馆的评价达到满分，且满意度与重要性保持一致，当前服务表现较为稳健。分项来看，旅游服务与硬件设施两大板块均获满分评价，其中售票/销售服务、景点设施、环境卫生、安全服务、工作人员仪容仪表、工作人员服务态度、讲解人员专业性，以及交通便利、标识标牌清晰等触点均处于较高水平，未呈现明显短板。结合满意度与重要性关系看，当前各项核心体验要素均实现高重要度下的高满意度匹配，整体服务交付较为完整，基础接待、现场管理、讲解服务与到达指引等关键环节表现均衡。就本页数据而言，暂未出现相对偏弱项，后续可重点保持现有服务稳定性，持续巩固高分项目表现，避免关键触点波动对整体评价造成影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酒店散客满意度维持高位，整体得分为9.6，客户体验基础较稳，但局部环节仍有提升空间。分项看，入住服务表现突出，二级指标得分达到10，礼宾服务、入住登记、客房服务、离店退房以及工作人员仪容仪表、服务态度、业务技能均为满分，显示一线服务流程和人员服务呈现出较强稳定性，已形成较好的客户感知。相较之下，短板主要集中在硬件设施，二级指标得分为9.19，低于总体水平。其中，适合商务旅行、客房私密性表现较好，均为10分；交通便利、客房设施设备、住宿用品质量均为9分，处于较好水平；标识标牌清晰为8分、客房整体环境为8.5分，是当前相对偏弱的具体触点，与客户预期仍存在一定差距。综合来看，散客满意度当前呈现“服务强、硬件相对承压”的特征，后续宜优先围绕导视清晰度和客房环境体验开展针对性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住宿团队整体满意度达到9.94，维持高位，整体服务体验较为稳定。分项来看，入住服务表现最优，达到10分，入住登记、客房服务、离店退房以及人员仪容、态度、业务技能均保持满分，服务执行一致性较强；餐饮服务同样处于高满意水平，达到9.98分，送餐与零点服务满分，自助早餐为9.93分。硬件设施满意度为9.83分，整体表现良好，其中适合商务旅行、客房私密性均为10分，客房环境、设施设备和住宿用品质量也保持在9.96分以上。相对偏弱的环节主要集中在园区停车方便（9.14分）和标识标牌清晰（9.77分），与10分重要性相比存在更明显差距；交通便利性为9.85分，也仍有优化空间。整体来看，住宿团队优势集中在服务流程与客房体验，短板主要落在到达动线及停车便利相关触点，后续需重点关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酒店参会客户满意度维持高位，整体评价达到9.79，客户对会议相关服务的感受较为积极。其中，会展服务表现最为突出，工作人员仪容仪表、业务技能、服务态度及茶歇服务品质均获满分，服务端稳定性较强。配套服务整体表现良好，安保服务、保洁服务达到满分，餐饮服务和客房服务也处于较高水平。相较之下，短板主要集中在硬件设施体验，虽然休息空间、AV效果表现较好，但园区停车方便性得分8.67，为当前最低项；标识标牌清晰、会议厅室匹配性与方便性、设施设备齐全等也低于整体均值，交通便利性和参会环境虽保持较高评价，但仍有提升空间。结合各项得分差异看，后续需优先关注停车动线、场内导视及会场空间与设施适配度等触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酒店餐饮客户满意度维持高位，总体得分9.7，整体服务体验较为稳健，但与满分重要性相比仍存在一定优化空间。分项来看，餐饮服务表现突出，得分9.91，是当前体验优势所在；其中菜品温度、供应速度、接待指引、就餐区域温度与卫生、工作人员服务品质、菜品分量及卫生等均达到10分，基础服务稳定性较强。相较之下，硬件设施得分9.48，成为当前相对薄弱环节。具体短板主要集中在园区停车方便，得分8.75，为各项指标最低；标识标牌清晰得分9.34，也低于整体水平。餐饮服务内部，菜品地方特色9.57、菜肴品种9.67、菜品口味品相相关指标9.75和9.78，虽保持较好水平，但相较其他满分项仍有提升空间。后续可将硬件触点与餐饮特色感知作为重点关注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8255" imgH="8255" progId="TCLayout.ActiveDocument.1">
                  <p:embed/>
                </p:oleObj>
              </mc:Choice>
              <mc:Fallback>
                <p:oleObj name="think-cell 幻灯片" r:id="rId3" imgW="8255" imgH="8255" progId="TCLayout.ActiveDocument.1">
                  <p:embed/>
                  <p:pic>
                    <p:nvPicPr>
                      <p:cNvPr id="0" name="图片 205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689103"/>
            <a:ext cx="65659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73099" y="1120776"/>
            <a:ext cx="6565901" cy="2048122"/>
          </a:xfrm>
        </p:spPr>
        <p:txBody>
          <a:bodyPr vert="horz"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 rot="20346747">
            <a:off x="3618610" y="3906838"/>
            <a:ext cx="771417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 spc="12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099" y="732429"/>
            <a:ext cx="10845800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9" name="组合 8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-8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2" b="431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cxnSp>
          <p:nvCxnSpPr>
            <p:cNvPr id="11" name="直接连接符 4"/>
            <p:cNvCxnSpPr/>
            <p:nvPr userDrawn="1"/>
          </p:nvCxnSpPr>
          <p:spPr>
            <a:xfrm flipV="1">
              <a:off x="0" y="2695575"/>
              <a:ext cx="1492143" cy="1466850"/>
            </a:xfrm>
            <a:prstGeom prst="line">
              <a:avLst/>
            </a:prstGeom>
            <a:ln w="22225" cap="rnd">
              <a:solidFill>
                <a:schemeClr val="bg1">
                  <a:lumMod val="85000"/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bg>
      <p:bgPr>
        <a:solidFill>
          <a:schemeClr val="bg1">
            <a:alpha val="7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3386407" y="3429000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387523" y="4324350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alphaModFix amt="5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12" b="431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形 5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20487" y="214181"/>
            <a:ext cx="412732" cy="6003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4949945" y="1135063"/>
            <a:ext cx="5816598" cy="3667996"/>
          </a:xfr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49946" y="5823229"/>
            <a:ext cx="5816598" cy="314046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949948" y="5526958"/>
            <a:ext cx="5816598" cy="299297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1" imgW="8255" imgH="8255" progId="TCLayout.ActiveDocument.1">
                  <p:embed/>
                </p:oleObj>
              </mc:Choice>
              <mc:Fallback>
                <p:oleObj name="think-cell 幻灯片" r:id="rId11" imgW="8255" imgH="8255" progId="TCLayout.ActiveDocument.1">
                  <p:embed/>
                  <p:pic>
                    <p:nvPicPr>
                      <p:cNvPr id="0" name="图片 102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会展区客户满意度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/02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展览主承办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9.64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9.86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销售经理服务态度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销售经理业务能力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现场对接协调沟通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现场对接服务效率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报馆流程及服务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在线服务渠道便捷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撤展服务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展后回访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整体协调和配合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625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服务响应及时性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62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设备租赁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61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9.31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交通流线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货运通道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9.08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9.47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9.82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智慧场馆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8.5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杭州国博APP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室内导航系统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寻车系统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云上看馆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会展客户——展览活动主（承）办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展览活动主承办客户满意度维持高位，整体为9.29，客户体验基础较稳。分板块看，会展服务表现最优，满意度达9.86，销售经理服务态度、业务能力、现场协调沟通与服务效率均为满分，工作人员服务态度、业务技能、报馆流程、在线渠道、展后回访及整体协同等环节也保持较高水平，服务端支撑较为扎实。相较之下，短板主要集中在硬件设施、配套服务和智慧场馆，其中硬件设施下的展厅使用情况、设施设备齐全度、标识标牌清晰度相对偏弱，配套服务中的餐饮服务得分不高；智慧场馆板块整体仅8.50，寻车系统、云上看馆及室内导航系统与客户关注重点之间仍有提升空间，后续可优先围绕上述触点持续优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参展商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700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会场服务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9.15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9.09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9.03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参展环境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9.09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会展客户——参展商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参展商整体满意度维持高位，综合得分为9.58，整体服务表现较稳。分项中，会场服务表现最为突出，得分9.88，工作人员服务态度、业务技能均达到10分，仪容仪表为9.98，体现出一线服务执行较强；配套服务得分9.70，安保、保洁均为10分，支撑性较好。相较之下，硬件设施为9.15，是当前相对偏弱的环节，短板主要集中在园区停车方便（8.00）、标识标牌清晰（9.09）和展厅使用情况（9.03），与满分预期仍有一定差距；此外，餐饮服务9.09、现场布置与搭建9.55、交通便利9.50，也属于后续可持续优化的关注点。整体来看，参展商体验优势主要集中在人员服务与基础保障，后续需重点关注硬件便利性及现场配套体验的提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专业观众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9.39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9.79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9.23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9.93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展会路线安排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8.08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展厅使用情况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参展环境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8.96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9.45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822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823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会展客户——专业观众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专业观众满意度整体维持高位，但结构分化较为明显。会展服务表现最为突出，满意度接近满分，其中接待引导服务达到满分，工作人员仪容仪表、服务态度和业务技能均保持在9.95分以上，服务端优势较为稳固。硬件设施处于中上水平，参展环境和交通便利性评价较好，但园区停车方便、展会路线安排、展厅使用情况和标识标牌清晰度相对偏弱，其中园区停车方便得分最低，仅为8.08分，与客户关注度之间存在较明显差距。配套服务整体弱于前两项，安保服务和保洁服务评价突出，均达9.97分，但餐饮服务得分为8.88分，客房服务为7分，成为当前配套体验中的主要短板。后续可优先围绕停车、动线标识、餐饮及客房相关触点持续跟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会展服务商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9.68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9.89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9.93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现场对接协调沟通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现场对接服务效率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报馆流程及服务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在线服务渠道便捷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工程设备服务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整体协调和配合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服务响应及时性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撤展服务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展后回访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49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9.41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交通流线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园区停车便利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货运通道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快递物流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会展客户——会展服务商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会展服务商整体满意度维持高位，服务端表现尤为突出，会展服务达到9.93，配套服务为9.71，均高于总体水平。现场对接协调沟通、服务效率、服务态度、业务技能、报馆流程、工程设备、整体协调配合及服务响应等核心触点均获满分，体现出前场服务稳定、协同顺畅。配套服务中，安保与保洁评价较好，餐饮服务相对偏弱。硬件设施得分为9.41，低于其他板块，是当前短板相对集中的环节，其中休息空间8.88为最低，货运通道、设施设备齐全均为9.13，交通流线和园区停车便利均为9.38，标识标牌清晰为9.63；同时，餐饮服务、货运通道、设施设备、交通流线、园区停车等项目满意度与重要性之间存在一定差距，后续需重点关注硬件承载与基础配套体验的优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会议主承办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9.45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9.36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9.76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销售经理服务态度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销售经理业务能力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现场对接协调沟通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现场对接服务效率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现场布置与搭建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茶歇服务与品质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在线服务渠道便捷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报馆流程及服务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工程设施设备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撤会服务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会后回访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整体协调和配合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服务响应及时性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9.55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8.91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交通流线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9.61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9.37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智慧场馆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8.75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杭州国博APP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室内导航系统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寻车系统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63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云上看馆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会展客户——会议活动主（承）办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会议活动主（承）办客户整体满意度维持高位，服务表现优于硬件与配套，整体体验较为稳定。会展服务为最突出板块，现场对接协调沟通、服务效率、工作人员仪容仪表和服务态度均处于高分水平，销售经理服务、报馆流程、工程设施设备、撤会服务等环节也保持较好表现，体现出前中后台协同较顺畅。配套服务整体表现较好，其中客房服务、保洁服务评价突出，安保服务稳定；餐饮服务相对偏弱。硬件设施是当前短板相对集中的板块，标识标牌清晰度得分最低，设施设备齐全度、休息空间、交通流线等环节也低于整体水平。结合满意度与关注度差异看，标识标牌清晰、设施设备齐全，以及会后回访、整体协调和配合、服务响应及时性等项目仍有提升空间，后续宜作为优先关注方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参会人员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9.79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茶歇服务品质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9.56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8.64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参会环境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会展客户——参会客户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参会客户整体满意度维持高位，综合评分为9.79，整体服务基础较为稳固。分项来看，会展服务表现最优，达到9.99，工作人员仪容仪表、业务技能、服务态度及接待引导均获满分，茶歇服务品质也保持较高水准，体现出前端服务交付较为成熟。配套服务处于较好水平，安保、保洁均为满分，客房服务评价较高，但餐饮服务相对偏弱，仍有提升空间。硬件设施是当前相对短板，满意度为9.56，其中AV效果、参会环境和休息空间评价较好，但园区停车方便、标识标牌清晰、会议厅室匹配性等指标得分相对靠后，与重要性之间存在更明显差距，后续宜优先关注参会动线与到场体验相关环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餐饮区客户满意度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/03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商务简餐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菜品分量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餐饮客户——商务简餐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商务简餐整体满意度为9.54分，维持较高水平，客户体验总体稳定。分项表现中，餐饮服务满意度达到9.94分，是当前业务的主要支撑项，菜品温度、菜品卫生、工作人员服务品质均为10分，菜品分量、供应速度、就餐区域卫生也保持在9.93分及以上，体现出出品质量、服务执行和基础环境管理整体表现较好。相较之下，硬件设施满意度为9.14分，明显低于整体水平，是当前体验中的相对短板。具体来看，交通便利、容易到达得分9.8分，保持较好水准，但园区停车方便仅为8.2分，为全部指标中的最低项；标识标牌清晰为9.42分，也低于整体平均水平。结合满意度与重要性差异看，客户对各项体验普遍赋予较高关注，当前优势集中在餐饮服务本身，短板则主要集中于到场后的配套便利性与导引体验，后续需优先关注停车与现场标识相关环节，以减少对整体评价的拖累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特色美食廊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9.1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9.24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菜肴品质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8.91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菜品口味口相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8.48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8.52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菜肴份量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8.95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8.74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餐饮客户——特色美食廊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特色美食廊客户满意度维持高位，总体得分9.1，整体体验较为稳定。其中，餐饮服务表现优于硬件设施，服务端亮点较为集中：工作人员服务品质获满分，就餐区域卫生接近满分，菜肴份量和就餐区域温度均处于较高水平，构成当前体验的主要支撑项。相较之下，硬件设施得分略低，短板集中在到店与识别相关环节，园区停车方便、标识标牌清晰的评价相对靠后。餐饮服务内部也存在结构性差异，菜品口味口相、菜品地方特色和菜肴品质得分低于服务表现，其中口味口相和地方特色为当前相对偏弱项。结合满意度与重要性差异看，口味口相、地方特色、停车便利及标识清晰度与客户期待之间仍有提升空间，后续宜优先围绕菜品体验及到店动线相关触点持续优化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婚宴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9.16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9.38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菜品口味品相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8.61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婚宴茶歇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8.94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9.37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8.65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宴会视听设备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餐饮客户——婚宴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婚宴客户满意度整体维持高位，总体评价为9.16，服务端表现好于硬件端，当前体验短板主要集中在菜品感知与到场配套两个环节。餐饮服务满意度为9.38，在各模块中表现较优，其中工作人员业务技能、服务态度、仪容仪表，以及就餐区域卫生、菜品供应速度、婚宴茶歇等项目评价较高，体现出现场服务执行较稳定、基础服务保障较到位。相对来看，菜品口味品相、菜品地方特色、菜品温度以及接待指引、就餐区域温度处于中低位，尤其菜品口味品相和地方特色分值偏低，且与客户关注重点之间存在一定差距，后续需重点关注婚宴餐饮体验的核心感知。硬件设施满意度为8.94，低于整体水平，其中宴会视听设备和交通便利性表现较好，但园区停车方便、标识标牌清晰度相对偏弱，成为影响到场与动线体验的主要薄弱点。整体看，婚宴服务基础较稳，后续优化重点应聚焦“菜品体验提升”和“到场导引便利性改善”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自助餐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9.51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菜品口味口相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31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餐饮客户——自助餐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自助餐客户满意度整体维持高位，总体得分9.51，服务体验表现明显优于硬件设施，短板相对集中且指向清晰。餐饮服务得分9.91，处于较高水平，其中菜肴品种、菜品供应速度、接待指引、工作人员服务品质、就餐区域温度及卫生均获10分，构成当前体验的主要支撑项；菜品口味口相9.7分、菜品地方特色9.6分，也保持良好水准。相比之下，硬件设施得分9.1，为主要承压环节，其中交通便利和标识标牌清晰分别为9.6分和9.7分，整体尚稳，但园区停车方便仅8分，与整体及其他指标存在较明显差距，是当前满意度提升空间最集中的单项。后续在保持餐饮服务优势的同时，需优先关注到达与停车相关体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宴会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9.78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9.94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菜品口味品相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9.81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9.61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宴会视听设备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89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9.25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9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餐饮客户——宴会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宴会客户满意度整体维持高位，总体得分9.78，客户体验基础较为稳固。其中，餐饮服务表现突出，得分9.94，菜品温度、菜肴品种、供应速度、接待指引、就餐区域卫生及工作人员服务品质均达到满分，构成当前宴会体验的主要支撑项；菜品地方特色、就餐区域温度及菜品口味品相也保持较高水平。相较之下，硬件设施得分9.61，成为当前体验中的相对薄弱环节，短板主要集中在园区停车方便、标识标牌清晰及交通便利、容易到达等到场与动线相关触点，其中园区停车方便得分最低，为9.25。结合满意度与客户关注度看，后续宜优先围绕到达便利性、停车组织及导视清晰度持续优化，以降低外围体验对整体宴会感受的影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altLang="zh-CN" dirty="0"/>
                <a:t>G20</a:t>
              </a:r>
              <a:r>
                <a:rPr lang="zh-CN" altLang="en-US" dirty="0"/>
                <a:t>峰会体验场馆满意度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/05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游客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9.81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旅游服务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9.92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售票/销售服务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9.43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景点设施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环境卫生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安全服务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讲解人员专业性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G20峰会体验馆——游客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整体满意度维持高位，G20峰会体验馆游客总体满意度为9.81，整体体验较好。分项看，旅游服务表现更优，满意度为9.92，其中景点设施、环境卫生、安全服务、工作人员仪容仪表、工作人员服务态度及讲解人员专业性均达到10分，构成当前体验感知的主要支撑点；硬件设施满意度为9.70，整体仍处较高水平，但相较旅游服务略有承压。具体指标中，园区停车方便达到10分，交通便利、容易到达为9.78，均保持良好表现；相对偏弱的环节主要集中在售票/销售服务和标识标牌清晰，满意度分别为9.43和9.33，与满分重要性相比存在一定差距，是当前更值得优先关注的改善点。整体来看，场馆核心接待与现场服务优势较为稳固，后续可围绕游客入园前后触点持续优化，以进一步提升整体体验一致性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旅行社工作人员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旅游服务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售票/销售服务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景点设施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环境卫生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安全服务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讲解人员专业性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817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81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G20峰会体验馆——旅行社工作人员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整体满意度维持高位，旅行社工作人员对G20峰会体验馆的评价达到满分，且满意度与重要性保持一致，当前服务表现较为稳健。分项来看，旅游服务与硬件设施两大板块均获满分评价，其中售票/销售服务、景点设施、环境卫生、安全服务、工作人员仪容仪表、工作人员服务态度、讲解人员专业性，以及交通便利、标识标牌清晰等触点均处于较高水平，未呈现明显短板。结合满意度与重要性关系看，当前各项核心体验要素均实现高重要度下的高满意度匹配，整体服务交付较为完整，基础接待、现场管理、讲解服务与到达指引等关键环节表现均衡。就本页数据而言，暂未出现相对偏弱项，后续可重点保持现有服务稳定性，持续巩固高分项目表现，避免关键触点波动对整体评价造成影响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>
          <a:xfrm>
            <a:off x="6470613" y="2315714"/>
            <a:ext cx="5420301" cy="2680440"/>
            <a:chOff x="6470613" y="2315714"/>
            <a:chExt cx="5420301" cy="2680440"/>
          </a:xfrm>
        </p:grpSpPr>
        <p:sp>
          <p:nvSpPr>
            <p:cNvPr id="3" name="标题 4"/>
            <p:cNvSpPr txBox="1"/>
            <p:nvPr/>
          </p:nvSpPr>
          <p:spPr>
            <a:xfrm>
              <a:off x="6471729" y="4100804"/>
              <a:ext cx="5419185" cy="89535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400" b="1" kern="1200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dirty="0"/>
                <a:t>酒店区客户满意度及酒店暗访评分</a:t>
              </a:r>
            </a:p>
          </p:txBody>
        </p:sp>
        <p:sp>
          <p:nvSpPr>
            <p:cNvPr id="4" name="文本框 7"/>
            <p:cNvSpPr txBox="1"/>
            <p:nvPr/>
          </p:nvSpPr>
          <p:spPr>
            <a:xfrm>
              <a:off x="6470613" y="2315714"/>
              <a:ext cx="2053096" cy="1785090"/>
            </a:xfrm>
            <a:prstGeom prst="rect">
              <a:avLst/>
            </a:prstGeom>
            <a:noFill/>
            <a:ln w="117475">
              <a:noFill/>
            </a:ln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spc="100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/04</a:t>
              </a:r>
              <a:endParaRPr lang="zh-CN" altLang="en-US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散客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10853928" cy="4599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9.19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适合商务旅行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客房整体环境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客房设施设备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住宿用品质量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客房私密性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入住服务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礼宾服务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入住登记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离店退房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酒店客户——酒店散客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散客满意度维持高位，整体得分为9.6，客户体验基础较稳，但局部环节仍有提升空间。分项看，入住服务表现突出，二级指标得分达到10，礼宾服务、入住登记、客房服务、离店退房以及工作人员仪容仪表、服务态度、业务技能均为满分，显示一线服务流程和人员服务呈现出较强稳定性，已形成较好的客户感知。相较之下，短板主要集中在硬件设施，二级指标得分为9.19，低于总体水平。其中，适合商务旅行、客房私密性表现较好，均为10分；交通便利、客房设施设备、住宿用品质量均为9分，处于较好水平；标识标牌清晰为8分、客房整体环境为8.5分，是当前相对偏弱的具体触点，与客户预期仍存在一定差距。综合来看，散客满意度当前呈现“服务强、硬件相对承压”的特征，后续宜优先围绕导视清晰度和客房环境体验开展针对性优化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住宿团队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9.94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9.83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适合商务旅行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9.14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客房整体环境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客房设施设备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住宿用品质量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客房私密性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8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入住服务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礼宾服务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入住登记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离店退房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自助早餐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9.93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自助晚餐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30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送餐服务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3315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零点服务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酒店客户——酒店住宿团队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住宿团队整体满意度达到9.94，维持高位，整体服务体验较为稳定。分项来看，入住服务表现最优，达到10分，入住登记、客房服务、离店退房以及人员仪容、态度、业务技能均保持满分，服务执行一致性较强；餐饮服务同样处于高满意水平，达到9.98分，送餐与零点服务满分，自助早餐为9.93分。硬件设施满意度为9.83分，整体表现良好，其中适合商务旅行、客房私密性均为10分，客房环境、设施设备和住宿用品质量也保持在9.96分以上。相对偏弱的环节主要集中在园区停车方便（9.14分）和标识标牌清晰（9.77分），与10分重要性相比存在更明显差距；交通便利性为9.85分，也仍有优化空间。整体来看，住宿团队优势集中在服务流程与客房体验，短板主要落在到达动线及停车便利相关触点，后续需重点关注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酒店参会客户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9.79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会展服务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工作人员仪容仪表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工作人员业务技能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工作人员服务态度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接待引导服务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茶歇服务品质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9.58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会议厅室匹配性，方便性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设施设备齐全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休息空间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AV效果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参会环境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9.87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配套服务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9.62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客房服务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安保服务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保洁服务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酒店客户——酒店参会客户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参会客户满意度维持高位，整体评价达到9.79，客户对会议相关服务的感受较为积极。其中，会展服务表现最为突出，工作人员仪容仪表、业务技能、服务态度及茶歇服务品质均获满分，服务端稳定性较强。配套服务整体表现良好，安保服务、保洁服务达到满分，餐饮服务和客房服务也处于较高水平。相较之下，短板主要集中在硬件设施体验，虽然休息空间、AV效果表现较好，但园区停车方便性得分8.67，为当前最低项；标识标牌清晰、会议厅室匹配性与方便性、设施设备齐全等也低于整体均值，交通便利性和参会环境虽保持较高评价，但仍有提升空间。结合各项得分差异看，后续需优先关注停车动线、场内导视及会场空间与设施适配度等触点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67512" y="1325880"/>
          <a:ext cx="10853928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酒店餐饮客户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9.7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D87A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餐饮服务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9.91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菜肴品种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菜品口味品相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菜品地方特色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9.57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接待指引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就餐区域温度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就餐区域卫生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工作人员服务品质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菜品口味口相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9.78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菜品分量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供应速度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菜品卫生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36208" y="1920240"/>
          <a:ext cx="528523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8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指标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满意度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重要性</a:t>
                      </a:r>
                    </a:p>
                  </a:txBody>
                  <a:tcPr marL="50800" marR="50800" marT="25400" marB="25400" anchor="ctr">
                    <a:solidFill>
                      <a:srgbClr val="BF1E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硬件设施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9.48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E49A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标识标牌清晰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9.34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宴会视听设备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园区停车方便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8.75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交通便利，容易到达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9.67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4D5874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E8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酒店客户——酒店餐饮客户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444752"/>
            <a:ext cx="507492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89320" y="1444752"/>
            <a:ext cx="5029200" cy="4663440"/>
          </a:xfrm>
          <a:prstGeom prst="rect">
            <a:avLst/>
          </a:prstGeom>
          <a:solidFill>
            <a:srgbClr val="F7E8EC"/>
          </a:solidFill>
          <a:ln w="12700">
            <a:solidFill>
              <a:srgbClr val="E8D5DA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indent="355600" algn="l">
              <a:lnSpc>
                <a:spcPct val="130000"/>
              </a:lnSpc>
              <a:spcAft>
                <a:spcPts val="600"/>
              </a:spcAft>
            </a:pPr>
            <a:r>
              <a:rPr lang="zh-CN" sz="1400">
                <a:solidFill>
                  <a:srgbClr val="5D667A"/>
                </a:solidFill>
                <a:latin typeface="Kaiti SC"/>
                <a:ea typeface="Kaiti SC"/>
                <a:cs typeface="Kaiti SC"/>
              </a:rPr>
              <a:t>酒店餐饮客户满意度维持高位，总体得分9.7，整体服务体验较为稳健，但与满分重要性相比仍存在一定优化空间。分项来看，餐饮服务表现突出，得分9.91，是当前体验优势所在；其中菜品温度、供应速度、接待指引、就餐区域温度与卫生、工作人员服务品质、菜品分量及卫生等均达到10分，基础服务稳定性较强。相较之下，硬件设施得分9.48，成为当前相对薄弱环节。具体短板主要集中在园区停车方便，得分8.75，为各项指标最低；标识标牌清晰得分9.34，也低于整体水平。餐饮服务内部，菜品地方特色9.57、菜肴品种9.67、菜品口味品相相关指标9.75和9.78，虽保持较好水平，但相较其他满分项仍有提升空间。后续可将硬件触点与餐饮特色感知作为重点关注方向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139e2a88-c592-4b5f-9711-ddb123b4f82c"/>
  <p:tag name="ISLIDE.TEMPLATE" val="#418440"/>
  <p:tag name="THINKCELLUNDODONOTDELETE" val="0"/>
  <p:tag name="COMMONDATA" val="eyJoZGlkIjoiODBlOWQwN2ZjNDU2Y2MzMGMzMjc5ZTMyYjVjMGM0YzcifQ=="/>
  <p:tag name="RESOURCE_RECORD_KEY" val="{&quot;10&quot;:[20253784],&quot;65&quot;:[20235185],&quot;70&quot;:[3322390,3322458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3_主题5">
  <a:themeElements>
    <a:clrScheme name="自定义 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B2648"/>
      </a:accent1>
      <a:accent2>
        <a:srgbClr val="26BB99"/>
      </a:accent2>
      <a:accent3>
        <a:srgbClr val="9098A6"/>
      </a:accent3>
      <a:accent4>
        <a:srgbClr val="908992"/>
      </a:accent4>
      <a:accent5>
        <a:srgbClr val="5B5E71"/>
      </a:accent5>
      <a:accent6>
        <a:srgbClr val="838584"/>
      </a:accent6>
      <a:hlink>
        <a:srgbClr val="C92523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290</TotalTime>
  <Words>5572</Words>
  <Application>Microsoft Macintosh PowerPoint</Application>
  <PresentationFormat>宽屏</PresentationFormat>
  <Paragraphs>1210</Paragraphs>
  <Slides>38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5" baseType="lpstr">
      <vt:lpstr>Kaiti SC</vt:lpstr>
      <vt:lpstr>Impact</vt:lpstr>
      <vt:lpstr>Arial</vt:lpstr>
      <vt:lpstr>Calibri</vt:lpstr>
      <vt:lpstr>等线</vt:lpstr>
      <vt:lpstr>3_主题5</vt:lpstr>
      <vt:lpstr>think-cell 幻灯片</vt:lpstr>
      <vt:lpstr>PowerPoint 演示文稿</vt:lpstr>
      <vt:lpstr>会展客户——展览活动主（承）办</vt:lpstr>
      <vt:lpstr>会展客户——展览活动主（承）办</vt:lpstr>
      <vt:lpstr>会展客户——参展商</vt:lpstr>
      <vt:lpstr>会展客户——参展商</vt:lpstr>
      <vt:lpstr>会展客户——专业观众</vt:lpstr>
      <vt:lpstr>会展客户——专业观众</vt:lpstr>
      <vt:lpstr>会展客户——会展服务商</vt:lpstr>
      <vt:lpstr>会展客户——会展服务商</vt:lpstr>
      <vt:lpstr>会展客户——会议活动主（承）办</vt:lpstr>
      <vt:lpstr>会展客户——会议活动主（承）办</vt:lpstr>
      <vt:lpstr>会展客户——参会客户</vt:lpstr>
      <vt:lpstr>会展客户——参会客户</vt:lpstr>
      <vt:lpstr>PowerPoint 演示文稿</vt:lpstr>
      <vt:lpstr>餐饮客户——商务简餐</vt:lpstr>
      <vt:lpstr>餐饮客户——商务简餐</vt:lpstr>
      <vt:lpstr>餐饮客户——特色美食廊</vt:lpstr>
      <vt:lpstr>餐饮客户——特色美食廊</vt:lpstr>
      <vt:lpstr>餐饮客户——婚宴</vt:lpstr>
      <vt:lpstr>餐饮客户——婚宴</vt:lpstr>
      <vt:lpstr>餐饮客户——自助餐</vt:lpstr>
      <vt:lpstr>餐饮客户——自助餐</vt:lpstr>
      <vt:lpstr>餐饮客户——宴会</vt:lpstr>
      <vt:lpstr>餐饮客户——宴会</vt:lpstr>
      <vt:lpstr>PowerPoint 演示文稿</vt:lpstr>
      <vt:lpstr>G20峰会体验馆——游客</vt:lpstr>
      <vt:lpstr>G20峰会体验馆——游客</vt:lpstr>
      <vt:lpstr>G20峰会体验馆——旅行社工作人员</vt:lpstr>
      <vt:lpstr>G20峰会体验馆——旅行社工作人员</vt:lpstr>
      <vt:lpstr>PowerPoint 演示文稿</vt:lpstr>
      <vt:lpstr>酒店客户——酒店散客</vt:lpstr>
      <vt:lpstr>酒店客户——酒店散客</vt:lpstr>
      <vt:lpstr>酒店客户——酒店住宿团队</vt:lpstr>
      <vt:lpstr>酒店客户——酒店住宿团队</vt:lpstr>
      <vt:lpstr>酒店客户——酒店参会客户</vt:lpstr>
      <vt:lpstr>酒店客户——酒店参会客户</vt:lpstr>
      <vt:lpstr>酒店客户——酒店餐饮客户</vt:lpstr>
      <vt:lpstr>酒店客户——酒店餐饮客户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Mila</dc:creator>
  <cp:lastModifiedBy>张奇进</cp:lastModifiedBy>
  <cp:revision>1466</cp:revision>
  <cp:lastPrinted>2020-04-29T16:00:00Z</cp:lastPrinted>
  <dcterms:created xsi:type="dcterms:W3CDTF">2020-04-29T16:00:00Z</dcterms:created>
  <dcterms:modified xsi:type="dcterms:W3CDTF">2026-04-13T08:14:57Z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4244D058C3234304A8CAFD4066DC7AD4_13</vt:lpwstr>
  </property>
  <property fmtid="{D5CDD505-2E9C-101B-9397-08002B2CF9AE}" pid="4" name="KSOProductBuildVer">
    <vt:lpwstr>2052-12.1.0.25225</vt:lpwstr>
  </property>
</Properties>
</file>