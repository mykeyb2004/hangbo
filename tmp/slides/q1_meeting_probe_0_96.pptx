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5" r:id="rId1"/>
  </p:sldMasterIdLst>
  <p:notesMasterIdLst>
    <p:notesMasterId r:id="rId3"/>
  </p:notesMasterIdLst>
  <p:handoutMasterIdLst>
    <p:handoutMasterId r:id="rId4"/>
  </p:handoutMasterIdLst>
  <p:sldIdLst>
    <p:sldId id="953" r:id="rId2"/>
    <p:sldId id="954" r:id="rId13"/>
  </p:sldIdLst>
  <p:sldSz cx="12192000" cy="6858000"/>
  <p:notesSz cx="6858000" cy="9144000"/>
  <p:embeddedFontLst>
    <p:embeddedFont>
      <p:font typeface="等线" panose="02010600030101010101" pitchFamily="2" charset="-122"/>
      <p:regular r:id="rId5"/>
      <p:bold r:id="rId6"/>
    </p:embeddedFont>
  </p:embeddedFontLst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F26B43"/>
          </p15:clr>
        </p15:guide>
        <p15:guide id="3" orient="horz" pos="2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DELL" initials="D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2648"/>
    <a:srgbClr val="BB2647"/>
    <a:srgbClr val="F3E8E9"/>
    <a:srgbClr val="ECA0B1"/>
    <a:srgbClr val="F7F9FD"/>
    <a:srgbClr val="F9E9EC"/>
    <a:srgbClr val="DE9BA4"/>
    <a:srgbClr val="A40000"/>
    <a:srgbClr val="BD374A"/>
    <a:srgbClr val="EB40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20" autoAdjust="0"/>
    <p:restoredTop sz="92000" autoAdjust="0"/>
  </p:normalViewPr>
  <p:slideViewPr>
    <p:cSldViewPr snapToGrid="0" showGuides="1">
      <p:cViewPr varScale="1">
        <p:scale>
          <a:sx n="176" d="100"/>
          <a:sy n="176" d="100"/>
        </p:scale>
        <p:origin x="864" y="200"/>
      </p:cViewPr>
      <p:guideLst>
        <p:guide pos="3839"/>
        <p:guide orient="horz" pos="2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04" y="96"/>
      </p:cViewPr>
      <p:guideLst/>
    </p:cSldViewPr>
  </p:notesViewPr>
  <p:gridSpacing cx="45000" cy="45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tags" Target="tags/tag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Relationship Id="rId6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8255" imgH="8255" progId="TCLayout.ActiveDocument.1">
                  <p:embed/>
                </p:oleObj>
              </mc:Choice>
              <mc:Fallback>
                <p:oleObj name="think-cell 幻灯片" r:id="rId3" imgW="8255" imgH="8255" progId="TCLayout.ActiveDocument.1">
                  <p:embed/>
                  <p:pic>
                    <p:nvPicPr>
                      <p:cNvPr id="0" name="图片 20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689103"/>
            <a:ext cx="6565901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73099" y="1120776"/>
            <a:ext cx="6565901" cy="2048122"/>
          </a:xfrm>
        </p:spPr>
        <p:txBody>
          <a:bodyPr vert="horz"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 rot="20346747">
            <a:off x="3618610" y="3906838"/>
            <a:ext cx="771417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 spc="12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3099" y="732429"/>
            <a:ext cx="10845800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12" b="431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11" name="直接连接符 4"/>
            <p:cNvCxnSpPr/>
            <p:nvPr userDrawn="1"/>
          </p:nvCxnSpPr>
          <p:spPr>
            <a:xfrm flipV="1">
              <a:off x="0" y="2695575"/>
              <a:ext cx="1492143" cy="1466850"/>
            </a:xfrm>
            <a:prstGeom prst="line">
              <a:avLst/>
            </a:prstGeom>
            <a:ln w="22225" cap="rnd">
              <a:solidFill>
                <a:schemeClr val="bg1">
                  <a:lumMod val="85000"/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3386407" y="342900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387523" y="4324350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alphaModFix amt="5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12" b="431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0487" y="214181"/>
            <a:ext cx="412732" cy="6003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949945" y="1135063"/>
            <a:ext cx="5816598" cy="3667996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949946" y="5823229"/>
            <a:ext cx="5816598" cy="314046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949948" y="5526958"/>
            <a:ext cx="5816598" cy="299297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tags" Target="../tags/tag2.xml"/><Relationship Id="rId11" Type="http://schemas.openxmlformats.org/officeDocument/2006/relationships/oleObject" Target="../embeddings/oleObject1.bin"/><Relationship Id="rId1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8255" imgH="8255" progId="TCLayout.ActiveDocument.1">
                  <p:embed/>
                </p:oleObj>
              </mc:Choice>
              <mc:Fallback>
                <p:oleObj name="think-cell 幻灯片" r:id="rId11" imgW="8255" imgH="8255" progId="TCLayout.ActiveDocument.1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Layout" Target="../slideLayouts/slideLayout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项目执行情况</a:t>
            </a:r>
            <a:r>
              <a:rPr lang="en-US" altLang="zh-CN" dirty="0"/>
              <a:t>—</a:t>
            </a:r>
            <a:r>
              <a:rPr lang="zh-CN" altLang="en-US" dirty="0"/>
              <a:t>样本收集情况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96000"/>
              </a:lnSpc>
              <a:spcAft>
                <a:spcPts val="44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总体判断：会议主承办满意度主要由会展服务支撑，现场对接、人员服务态度与效率等环节评分突出；拖累项集中在硬件设施，尤其标识标牌、设施设备齐全度及休息空间，拉低整体体验。</a:t>
            </a:r>
          </a:p>
          <a:p>
            <a:pPr algn="l" indent="355600">
              <a:lnSpc>
                <a:spcPct val="96000"/>
              </a:lnSpc>
              <a:spcAft>
                <a:spcPts val="44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亮点：会展服务表现最强，现场对接协调沟通、工作人员仪容仪表和服务态度均为满分，配套服务中的客房服务、保洁服务也维持较好水平。</a:t>
            </a:r>
          </a:p>
          <a:p>
            <a:pPr algn="l" indent="355600">
              <a:lnSpc>
                <a:spcPct val="96000"/>
              </a:lnSpc>
              <a:spcAft>
                <a:spcPts val="44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关注点：硬件设施短板更集中，标识标牌清晰度为各项最低，设施设备齐全、交通流线及交通便利性与重要性相比仍有提升空间；配套服务中的餐饮服务评分也偏低。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139e2a88-c592-4b5f-9711-ddb123b4f82c"/>
  <p:tag name="ISLIDE.TEMPLATE" val="#418440"/>
  <p:tag name="THINKCELLUNDODONOTDELETE" val="0"/>
  <p:tag name="COMMONDATA" val="eyJoZGlkIjoiODBlOWQwN2ZjNDU2Y2MzMGMzMjc5ZTMyYjVjMGM0YzcifQ=="/>
  <p:tag name="RESOURCE_RECORD_KEY" val="{&quot;10&quot;:[20253784],&quot;65&quot;:[20235185],&quot;70&quot;:[3322390,332245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5223_1"/>
  <p:tag name="KSO_WM_TEMPLATE_SUBCATEGORY" val="0"/>
  <p:tag name="KSO_WM_TEMPLATE_MASTER_TYPE" val="0"/>
  <p:tag name="KSO_WM_TEMPLATE_COLOR_TYPE" val="1"/>
  <p:tag name="KSO_WM_SLIDE_TYPE" val="text"/>
  <p:tag name="KSO_WM_SLIDE_SUBTYPE" val="picTxt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5223"/>
  <p:tag name="KSO_WM_SLIDE_LAYOUT" val="a_f_β_l"/>
  <p:tag name="KSO_WM_SLIDE_LAYOUT_CNT" val="1_1_1_1"/>
  <p:tag name="KSO_WM_TEMPLATE_THUMBS_INDEX" val="1、4、7、12、13、14、15、16、17、18、20、24、25、28、33、36、40、43、44"/>
  <p:tag name="KSO_WM_SLIDE_SIZE" val="229.9*349.05"/>
  <p:tag name="KSO_WM_SLIDE_POSITION" val="55.25*122.075"/>
  <p:tag name="KSO_WM_DIAGRAM_GROUP_CODE" val="l1-1"/>
  <p:tag name="KSO_WM_SLIDE_DIAGTYPE" val="l"/>
  <p:tag name="RESOURCE_RECORD_KEY" val="{&quot;10&quot;:[3504402,4450706,20248353,21572539,3645084,20253784],&quot;65&quot;:[20235223]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5223_1*a*1"/>
  <p:tag name="KSO_WM_TEMPLATE_CATEGORY" val="custom"/>
  <p:tag name="KSO_WM_TEMPLATE_INDEX" val="20235223"/>
  <p:tag name="KSO_WM_UNIT_LAYERLEVEL" val="1"/>
  <p:tag name="KSO_WM_TAG_VERSION" val="3.0"/>
  <p:tag name="KSO_WM_BEAUTIFY_FLAG" val="#wm#"/>
  <p:tag name="KSO_WM_UNIT_VALUE" val="23"/>
  <p:tag name="KSO_WM_UNIT_PRESET_TEXT" val="添加文档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heme/theme1.xml><?xml version="1.0" encoding="utf-8"?>
<a:theme xmlns:a="http://schemas.openxmlformats.org/drawingml/2006/main" name="3_主题5">
  <a:themeElements>
    <a:clrScheme name="自定义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B2648"/>
      </a:accent1>
      <a:accent2>
        <a:srgbClr val="26BB99"/>
      </a:accent2>
      <a:accent3>
        <a:srgbClr val="9098A6"/>
      </a:accent3>
      <a:accent4>
        <a:srgbClr val="908992"/>
      </a:accent4>
      <a:accent5>
        <a:srgbClr val="5B5E71"/>
      </a:accent5>
      <a:accent6>
        <a:srgbClr val="838584"/>
      </a:accent6>
      <a:hlink>
        <a:srgbClr val="C92523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Mila</Template>
  <TotalTime>289</TotalTime>
  <Words>7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Calibri</vt:lpstr>
      <vt:lpstr>等线</vt:lpstr>
      <vt:lpstr>Arial</vt:lpstr>
      <vt:lpstr>3_主题5</vt:lpstr>
      <vt:lpstr>think-cell 幻灯片</vt:lpstr>
      <vt:lpstr>项目执行情况—样本收集情况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Mila</dc:creator>
  <cp:lastModifiedBy>张奇进</cp:lastModifiedBy>
  <cp:revision>1466</cp:revision>
  <cp:lastPrinted>2020-04-29T16:00:00Z</cp:lastPrinted>
  <dcterms:created xsi:type="dcterms:W3CDTF">2020-04-29T16:00:00Z</dcterms:created>
  <dcterms:modified xsi:type="dcterms:W3CDTF">2026-04-08T15:59:48Z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4244D058C3234304A8CAFD4066DC7AD4_13</vt:lpwstr>
  </property>
  <property fmtid="{D5CDD505-2E9C-101B-9397-08002B2CF9AE}" pid="4" name="KSOProductBuildVer">
    <vt:lpwstr>2052-12.1.0.25225</vt:lpwstr>
  </property>
</Properties>
</file>